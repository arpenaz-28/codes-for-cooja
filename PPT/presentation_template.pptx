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304" r:id="rId2"/>
    <p:sldId id="1038" r:id="rId3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86">
          <p15:clr>
            <a:srgbClr val="A4A3A4"/>
          </p15:clr>
        </p15:guide>
        <p15:guide id="2" orient="horz" pos="315">
          <p15:clr>
            <a:srgbClr val="A4A3A4"/>
          </p15:clr>
        </p15:guide>
        <p15:guide id="3" orient="horz" pos="3359">
          <p15:clr>
            <a:srgbClr val="A4A3A4"/>
          </p15:clr>
        </p15:guide>
        <p15:guide id="4" orient="horz" pos="1912">
          <p15:clr>
            <a:srgbClr val="A4A3A4"/>
          </p15:clr>
        </p15:guide>
        <p15:guide id="5" orient="horz" pos="636">
          <p15:clr>
            <a:srgbClr val="A4A3A4"/>
          </p15:clr>
        </p15:guide>
        <p15:guide id="6" orient="horz" pos="3267">
          <p15:clr>
            <a:srgbClr val="A4A3A4"/>
          </p15:clr>
        </p15:guide>
        <p15:guide id="7" orient="horz" pos="3497">
          <p15:clr>
            <a:srgbClr val="A4A3A4"/>
          </p15:clr>
        </p15:guide>
        <p15:guide id="8" pos="2984">
          <p15:clr>
            <a:srgbClr val="A4A3A4"/>
          </p15:clr>
        </p15:guide>
        <p15:guide id="9" pos="3072">
          <p15:clr>
            <a:srgbClr val="A4A3A4"/>
          </p15:clr>
        </p15:guide>
        <p15:guide id="10" pos="1771">
          <p15:clr>
            <a:srgbClr val="A4A3A4"/>
          </p15:clr>
        </p15:guide>
        <p15:guide id="11" pos="5453">
          <p15:clr>
            <a:srgbClr val="A4A3A4"/>
          </p15:clr>
        </p15:guide>
        <p15:guide id="12" pos="1855">
          <p15:clr>
            <a:srgbClr val="A4A3A4"/>
          </p15:clr>
        </p15:guide>
        <p15:guide id="13" pos="3608">
          <p15:clr>
            <a:srgbClr val="A4A3A4"/>
          </p15:clr>
        </p15:guide>
        <p15:guide id="14" pos="3695">
          <p15:clr>
            <a:srgbClr val="A4A3A4"/>
          </p15:clr>
        </p15:guide>
        <p15:guide id="15" pos="4215">
          <p15:clr>
            <a:srgbClr val="A4A3A4"/>
          </p15:clr>
        </p15:guide>
        <p15:guide id="16" pos="4313">
          <p15:clr>
            <a:srgbClr val="A4A3A4"/>
          </p15:clr>
        </p15:guide>
        <p15:guide id="17" pos="4815">
          <p15:clr>
            <a:srgbClr val="A4A3A4"/>
          </p15:clr>
        </p15:guide>
        <p15:guide id="18" pos="4914">
          <p15:clr>
            <a:srgbClr val="A4A3A4"/>
          </p15:clr>
        </p15:guide>
        <p15:guide id="19" pos="602">
          <p15:clr>
            <a:srgbClr val="A4A3A4"/>
          </p15:clr>
        </p15:guide>
        <p15:guide id="20" pos="2466">
          <p15:clr>
            <a:srgbClr val="A4A3A4"/>
          </p15:clr>
        </p15:guide>
        <p15:guide id="21" pos="2378">
          <p15:clr>
            <a:srgbClr val="A4A3A4"/>
          </p15:clr>
        </p15:guide>
        <p15:guide id="22" pos="69">
          <p15:clr>
            <a:srgbClr val="A4A3A4"/>
          </p15:clr>
        </p15:guide>
        <p15:guide id="23" pos="1159">
          <p15:clr>
            <a:srgbClr val="A4A3A4"/>
          </p15:clr>
        </p15:guide>
        <p15:guide id="24" pos="1253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hristian Klawitter" initials="CK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DD3"/>
    <a:srgbClr val="EDE8DD"/>
    <a:srgbClr val="C2B7A1"/>
    <a:srgbClr val="918873"/>
    <a:srgbClr val="3C3623"/>
    <a:srgbClr val="D0A760"/>
    <a:srgbClr val="434A44"/>
    <a:srgbClr val="36052E"/>
    <a:srgbClr val="296549"/>
    <a:srgbClr val="0057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558"/>
  </p:normalViewPr>
  <p:slideViewPr>
    <p:cSldViewPr snapToGrid="0" snapToObjects="1" showGuides="1">
      <p:cViewPr varScale="1">
        <p:scale>
          <a:sx n="145" d="100"/>
          <a:sy n="145" d="100"/>
        </p:scale>
        <p:origin x="216" y="176"/>
      </p:cViewPr>
      <p:guideLst>
        <p:guide orient="horz" pos="1986"/>
        <p:guide orient="horz" pos="315"/>
        <p:guide orient="horz" pos="3359"/>
        <p:guide orient="horz" pos="1912"/>
        <p:guide orient="horz" pos="636"/>
        <p:guide orient="horz" pos="3267"/>
        <p:guide orient="horz" pos="3497"/>
        <p:guide pos="2984"/>
        <p:guide pos="3072"/>
        <p:guide pos="1771"/>
        <p:guide pos="5453"/>
        <p:guide pos="1855"/>
        <p:guide pos="3608"/>
        <p:guide pos="3695"/>
        <p:guide pos="4215"/>
        <p:guide pos="4313"/>
        <p:guide pos="4815"/>
        <p:guide pos="4914"/>
        <p:guide pos="602"/>
        <p:guide pos="2466"/>
        <p:guide pos="2378"/>
        <p:guide pos="69"/>
        <p:guide pos="1159"/>
        <p:guide pos="125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8" d="100"/>
        <a:sy n="88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964B9E-706D-9244-A1DC-4FB421A588C6}" type="datetimeFigureOut">
              <a:rPr lang="en-US" smtClean="0"/>
              <a:pPr/>
              <a:t>11/9/20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7F75D2-35A5-0946-AF7D-00D5D28A09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543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BC6610-5836-4B43-8846-CBEDBE42B4FC}" type="datetimeFigureOut">
              <a:rPr lang="en-US" smtClean="0"/>
              <a:pPr/>
              <a:t>11/9/20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2AB22-521B-D346-B43B-D3C730C6EC9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5601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tif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tiff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224"/>
          <a:stretch/>
        </p:blipFill>
        <p:spPr>
          <a:xfrm>
            <a:off x="0" y="-82973"/>
            <a:ext cx="9144000" cy="52449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2170308"/>
            <a:ext cx="8229600" cy="687192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INSIEME</a:t>
            </a:r>
            <a:br>
              <a:rPr lang="en-US" dirty="0"/>
            </a:br>
            <a:r>
              <a:rPr lang="en-US" dirty="0"/>
              <a:t>Integrated Simulations using</a:t>
            </a:r>
            <a:br>
              <a:rPr lang="en-US" dirty="0"/>
            </a:br>
            <a:r>
              <a:rPr lang="en-US" dirty="0" err="1"/>
              <a:t>Exascale</a:t>
            </a:r>
            <a:r>
              <a:rPr lang="en-US" dirty="0"/>
              <a:t> Multiphysics Ensemble</a:t>
            </a:r>
          </a:p>
        </p:txBody>
      </p:sp>
      <p:sp>
        <p:nvSpPr>
          <p:cNvPr id="12" name="Text Placeholder 33"/>
          <p:cNvSpPr>
            <a:spLocks noGrp="1"/>
          </p:cNvSpPr>
          <p:nvPr>
            <p:ph type="body" sz="quarter" idx="18" hasCustomPrompt="1"/>
          </p:nvPr>
        </p:nvSpPr>
        <p:spPr>
          <a:xfrm>
            <a:off x="1603375" y="3998913"/>
            <a:ext cx="6059488" cy="22860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Stanford - Site Visit 10/21-22/2019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457200" y="2996469"/>
            <a:ext cx="8229600" cy="5132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400" cap="small" spc="300">
                <a:solidFill>
                  <a:srgbClr val="A4001D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FB19C0-60F7-F141-B2AB-96134E468C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7658" t="4586" r="8748" b="6322"/>
          <a:stretch/>
        </p:blipFill>
        <p:spPr>
          <a:xfrm>
            <a:off x="4059815" y="4514224"/>
            <a:ext cx="1024369" cy="1047765"/>
          </a:xfrm>
          <a:prstGeom prst="ellipse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61945EC1-6429-3845-A34D-3B59597E2FA0}"/>
              </a:ext>
            </a:extLst>
          </p:cNvPr>
          <p:cNvSpPr txBox="1">
            <a:spLocks/>
          </p:cNvSpPr>
          <p:nvPr userDrawn="1"/>
        </p:nvSpPr>
        <p:spPr>
          <a:xfrm>
            <a:off x="176691" y="5305380"/>
            <a:ext cx="2827766" cy="51321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 cap="small" spc="300" baseline="0">
                <a:solidFill>
                  <a:srgbClr val="A4001D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Clr>
                <a:schemeClr val="bg2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Clr>
                <a:schemeClr val="bg2"/>
              </a:buClr>
              <a:buSzPct val="102000"/>
              <a:buFont typeface="Source Sans Pro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Clr>
                <a:schemeClr val="bg2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Clr>
                <a:schemeClr val="bg2"/>
              </a:buClr>
              <a:buFont typeface="Source Sans Pro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bg1"/>
                </a:solidFill>
              </a:rPr>
              <a:t>INSIEME - PSAAP III</a:t>
            </a:r>
          </a:p>
        </p:txBody>
      </p:sp>
      <p:pic>
        <p:nvPicPr>
          <p:cNvPr id="9" name="Picture 8" descr="asc_logo.pdf">
            <a:extLst>
              <a:ext uri="{FF2B5EF4-FFF2-40B4-BE49-F238E27FC236}">
                <a16:creationId xmlns:a16="http://schemas.microsoft.com/office/drawing/2014/main" id="{6864FAD9-75E2-B342-9E33-A6A36A24513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93645" y="4275694"/>
            <a:ext cx="816086" cy="8304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BB86BC6-6E47-9746-92BB-C73D4C22C7BD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139542" y="4381648"/>
            <a:ext cx="2808605" cy="780377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66761A66-3359-6745-8A5C-67524F285BCB}"/>
              </a:ext>
            </a:extLst>
          </p:cNvPr>
          <p:cNvSpPr txBox="1">
            <a:spLocks/>
          </p:cNvSpPr>
          <p:nvPr userDrawn="1"/>
        </p:nvSpPr>
        <p:spPr>
          <a:xfrm>
            <a:off x="176691" y="5305380"/>
            <a:ext cx="2827766" cy="51321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 cap="small" spc="300" baseline="0">
                <a:solidFill>
                  <a:srgbClr val="A4001D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Clr>
                <a:schemeClr val="bg2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Clr>
                <a:schemeClr val="bg2"/>
              </a:buClr>
              <a:buSzPct val="102000"/>
              <a:buFont typeface="Source Sans Pro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Clr>
                <a:schemeClr val="bg2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Clr>
                <a:schemeClr val="bg2"/>
              </a:buClr>
              <a:buFont typeface="Source Sans Pro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bg1"/>
                </a:solidFill>
              </a:rPr>
              <a:t>INSIEME - PSAAP III</a:t>
            </a:r>
          </a:p>
        </p:txBody>
      </p:sp>
      <p:sp>
        <p:nvSpPr>
          <p:cNvPr id="8" name="Title Placeholder 2">
            <a:extLst>
              <a:ext uri="{FF2B5EF4-FFF2-40B4-BE49-F238E27FC236}">
                <a16:creationId xmlns:a16="http://schemas.microsoft.com/office/drawing/2014/main" id="{A23579E6-DA93-A74D-B5D3-B4C12729A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9489"/>
            <a:ext cx="7376478" cy="542249"/>
          </a:xfrm>
          <a:prstGeom prst="rect">
            <a:avLst/>
          </a:prstGeom>
        </p:spPr>
        <p:txBody>
          <a:bodyPr vert="horz" lIns="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36C217F-B248-F345-B65D-629D7DE2B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776" y="1003777"/>
            <a:ext cx="7707862" cy="418258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D89F8B-CFAD-A14F-A23E-8989F8F026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658" t="4586" r="8748" b="6322"/>
          <a:stretch/>
        </p:blipFill>
        <p:spPr>
          <a:xfrm>
            <a:off x="176692" y="153012"/>
            <a:ext cx="961498" cy="983458"/>
          </a:xfrm>
          <a:prstGeom prst="ellipse">
            <a:avLst/>
          </a:prstGeom>
        </p:spPr>
      </p:pic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348" y="399489"/>
            <a:ext cx="7337289" cy="542249"/>
          </a:xfrm>
          <a:prstGeom prst="rect">
            <a:avLst/>
          </a:prstGeom>
        </p:spPr>
        <p:txBody>
          <a:bodyPr anchor="b" anchorCtr="0"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5" y="1009650"/>
            <a:ext cx="7700963" cy="41767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7011A-96DE-7945-BFF6-041513C634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2723E9-58A5-4D18-81BD-E1D0CC324A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2"/>
          <p:cNvSpPr txBox="1">
            <a:spLocks/>
          </p:cNvSpPr>
          <p:nvPr userDrawn="1"/>
        </p:nvSpPr>
        <p:spPr>
          <a:xfrm>
            <a:off x="60886" y="8699"/>
            <a:ext cx="457200" cy="508000"/>
          </a:xfrm>
          <a:prstGeom prst="rect">
            <a:avLst/>
          </a:prstGeom>
        </p:spPr>
        <p:txBody>
          <a:bodyPr vert="horz" wrap="none" lIns="45720" tIns="0" rIns="45720" bIns="0" anchor="ctr" anchorCtr="1">
            <a:noAutofit/>
          </a:bodyPr>
          <a:lstStyle>
            <a:lvl1pPr algn="ctr" eaLnBrk="1" latinLnBrk="0" hangingPunct="1">
              <a:defRPr kumimoji="0"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CF4F48-20BD-984A-8A89-2152FD4EC07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293222" y="399489"/>
            <a:ext cx="7363415" cy="542249"/>
          </a:xfrm>
          <a:prstGeom prst="rect">
            <a:avLst/>
          </a:prstGeom>
        </p:spPr>
        <p:txBody>
          <a:bodyPr anchor="b" anchorCtr="0"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5" y="1009650"/>
            <a:ext cx="3787775" cy="4176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1009650"/>
            <a:ext cx="3779838" cy="4176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345474" y="399489"/>
            <a:ext cx="7311164" cy="542249"/>
          </a:xfrm>
          <a:prstGeom prst="rect">
            <a:avLst/>
          </a:prstGeom>
        </p:spPr>
        <p:txBody>
          <a:bodyPr anchor="b" anchorCtr="0"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1009650"/>
            <a:ext cx="7707862" cy="20184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5" y="3157014"/>
            <a:ext cx="7707313" cy="2018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267096" y="399489"/>
            <a:ext cx="7389541" cy="542249"/>
          </a:xfrm>
          <a:prstGeom prst="rect">
            <a:avLst/>
          </a:prstGeom>
        </p:spPr>
        <p:txBody>
          <a:bodyPr anchor="b" anchorCtr="0"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5" y="1009650"/>
            <a:ext cx="3787775" cy="4176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1009651"/>
            <a:ext cx="3779838" cy="202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3152775"/>
            <a:ext cx="3779838" cy="2033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254034" y="399489"/>
            <a:ext cx="7402604" cy="542249"/>
          </a:xfrm>
          <a:prstGeom prst="rect">
            <a:avLst/>
          </a:prstGeom>
        </p:spPr>
        <p:txBody>
          <a:bodyPr anchor="b" anchorCtr="0"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5" y="1009651"/>
            <a:ext cx="3787775" cy="202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5" y="3156236"/>
            <a:ext cx="3781425" cy="20301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1009651"/>
            <a:ext cx="3779838" cy="202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3156236"/>
            <a:ext cx="3779838" cy="20301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tiff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1280160" y="399489"/>
            <a:ext cx="7376478" cy="542249"/>
          </a:xfrm>
          <a:prstGeom prst="rect">
            <a:avLst/>
          </a:prstGeom>
        </p:spPr>
        <p:txBody>
          <a:bodyPr vert="horz" lIns="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8776" y="1003777"/>
            <a:ext cx="7707862" cy="418258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5345613"/>
            <a:ext cx="846137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723E9-58A5-4D18-81BD-E1D0CC324A1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2F2E46-AB85-5642-911E-45437735D2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l="7658" t="4586" r="8748" b="6322"/>
          <a:stretch/>
        </p:blipFill>
        <p:spPr>
          <a:xfrm>
            <a:off x="176692" y="153012"/>
            <a:ext cx="961498" cy="983458"/>
          </a:xfrm>
          <a:prstGeom prst="ellipse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5B3CB128-5C9B-2A41-B52F-367B331367A0}"/>
              </a:ext>
            </a:extLst>
          </p:cNvPr>
          <p:cNvSpPr txBox="1">
            <a:spLocks/>
          </p:cNvSpPr>
          <p:nvPr userDrawn="1"/>
        </p:nvSpPr>
        <p:spPr>
          <a:xfrm>
            <a:off x="292417" y="5345613"/>
            <a:ext cx="3234553" cy="51321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 cap="small" spc="300" baseline="0">
                <a:solidFill>
                  <a:srgbClr val="A4001D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Clr>
                <a:schemeClr val="bg2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Clr>
                <a:schemeClr val="bg2"/>
              </a:buClr>
              <a:buSzPct val="102000"/>
              <a:buFont typeface="Source Sans Pro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Clr>
                <a:schemeClr val="bg2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Clr>
                <a:schemeClr val="bg2"/>
              </a:buClr>
              <a:buFont typeface="Source Sans Pro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bg2"/>
                </a:solidFill>
              </a:rPr>
              <a:t>INSIEME - PSAAP III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67" r:id="rId2"/>
    <p:sldLayoutId id="2147483670" r:id="rId3"/>
    <p:sldLayoutId id="2147483669" r:id="rId4"/>
    <p:sldLayoutId id="2147483698" r:id="rId5"/>
    <p:sldLayoutId id="2147483675" r:id="rId6"/>
    <p:sldLayoutId id="2147483692" r:id="rId7"/>
  </p:sldLayoutIdLst>
  <p:transition spd="slow">
    <p:fade/>
  </p:transition>
  <p:hf hdr="0" ftr="0" dt="0"/>
  <p:txStyles>
    <p:titleStyle>
      <a:lvl1pPr algn="l" defTabSz="457200" rtl="0" eaLnBrk="1" latinLnBrk="0" hangingPunct="1">
        <a:lnSpc>
          <a:spcPct val="85000"/>
        </a:lnSpc>
        <a:spcBef>
          <a:spcPct val="0"/>
        </a:spcBef>
        <a:buNone/>
        <a:defRPr sz="240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1800" kern="1200" cap="small" spc="20" baseline="0">
          <a:solidFill>
            <a:schemeClr val="tx1"/>
          </a:solidFill>
          <a:latin typeface="+mn-lt"/>
          <a:ea typeface="+mn-ea"/>
          <a:cs typeface="+mn-cs"/>
        </a:defRPr>
      </a:lvl1pPr>
      <a:lvl2pPr marL="288925" indent="-288925" algn="l" defTabSz="457200" rtl="0" eaLnBrk="1" latinLnBrk="0" hangingPunct="1">
        <a:spcBef>
          <a:spcPct val="20000"/>
        </a:spcBef>
        <a:buClr>
          <a:schemeClr val="bg2"/>
        </a:buClr>
        <a:buFont typeface="Wingdings" pitchFamily="2" charset="2"/>
        <a:buChar char="§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569913" indent="-225425" algn="l" defTabSz="457200" rtl="0" eaLnBrk="1" latinLnBrk="0" hangingPunct="1">
        <a:spcBef>
          <a:spcPct val="20000"/>
        </a:spcBef>
        <a:buClr>
          <a:schemeClr val="bg2"/>
        </a:buClr>
        <a:buSzPct val="102000"/>
        <a:buFont typeface="Source Sans Pro" pitchFamily="34" charset="0"/>
        <a:buChar char="›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7013" algn="l" defTabSz="457200" rtl="0" eaLnBrk="1" latinLnBrk="0" hangingPunct="1">
        <a:spcBef>
          <a:spcPct val="20000"/>
        </a:spcBef>
        <a:buClr>
          <a:schemeClr val="bg2"/>
        </a:buClr>
        <a:buFont typeface="Arial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58888" indent="-227013" algn="l" defTabSz="457200" rtl="0" eaLnBrk="1" latinLnBrk="0" hangingPunct="1">
        <a:spcBef>
          <a:spcPct val="20000"/>
        </a:spcBef>
        <a:buClr>
          <a:schemeClr val="bg2"/>
        </a:buClr>
        <a:buFont typeface="Source Sans Pro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8319" y="3154803"/>
            <a:ext cx="8229600" cy="687192"/>
          </a:xfrm>
        </p:spPr>
        <p:txBody>
          <a:bodyPr/>
          <a:lstStyle/>
          <a:p>
            <a:r>
              <a:rPr lang="en-US" sz="2000" b="1" dirty="0">
                <a:solidFill>
                  <a:schemeClr val="bg2"/>
                </a:solidFill>
                <a:latin typeface="+mn-lt"/>
              </a:rPr>
              <a:t>Integrated Simulations using </a:t>
            </a:r>
            <a:r>
              <a:rPr lang="en-US" sz="2000" b="1" dirty="0" err="1">
                <a:solidFill>
                  <a:schemeClr val="bg2"/>
                </a:solidFill>
                <a:latin typeface="+mn-lt"/>
              </a:rPr>
              <a:t>Exascale</a:t>
            </a:r>
            <a:r>
              <a:rPr lang="en-US" sz="2000" b="1" dirty="0">
                <a:solidFill>
                  <a:schemeClr val="bg2"/>
                </a:solidFill>
                <a:latin typeface="+mn-lt"/>
              </a:rPr>
              <a:t> Multiphysics Ensemble (INSIEME)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518319" y="832983"/>
            <a:ext cx="8229600" cy="51321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D5432-E050-1B4A-9013-784C45EFECDF}"/>
              </a:ext>
            </a:extLst>
          </p:cNvPr>
          <p:cNvSpPr txBox="1"/>
          <p:nvPr/>
        </p:nvSpPr>
        <p:spPr>
          <a:xfrm>
            <a:off x="8159262" y="54512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32C42-DBE8-714B-80F1-3E4B221AA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3" name="AutoShape 4" descr="NASA rocket">
            <a:extLst>
              <a:ext uri="{FF2B5EF4-FFF2-40B4-BE49-F238E27FC236}">
                <a16:creationId xmlns:a16="http://schemas.microsoft.com/office/drawing/2014/main" id="{04FC34C5-F01D-1B49-B3E8-5E545EE5F2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705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564843-A6F3-1140-868E-BDEA4D3A7D7C}"/>
              </a:ext>
            </a:extLst>
          </p:cNvPr>
          <p:cNvSpPr txBox="1"/>
          <p:nvPr/>
        </p:nvSpPr>
        <p:spPr>
          <a:xfrm>
            <a:off x="1049657" y="1678766"/>
            <a:ext cx="6318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Please state in the Introduction the particular question you are addressing in this presentation or the goal you are trying to achieve. 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008713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SU_Template_SideBar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5919</TotalTime>
  <Words>34</Words>
  <Application>Microsoft Macintosh PowerPoint</Application>
  <PresentationFormat>On-screen Show (16:10)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Source Sans Pro</vt:lpstr>
      <vt:lpstr>Source Sans Pro Semibold</vt:lpstr>
      <vt:lpstr>Wingdings</vt:lpstr>
      <vt:lpstr>SU_Template_SideBar</vt:lpstr>
      <vt:lpstr>Integrated Simulations using Exascale Multiphysics Ensemble (INSIEME)</vt:lpstr>
      <vt:lpstr>Title</vt:lpstr>
    </vt:vector>
  </TitlesOfParts>
  <Company>Stanford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Valerie Beeman</dc:creator>
  <dc:description>2012 PowerPoint template redesign</dc:description>
  <cp:lastModifiedBy>Javier Urzay Lobo</cp:lastModifiedBy>
  <cp:revision>217</cp:revision>
  <dcterms:created xsi:type="dcterms:W3CDTF">2012-12-05T23:46:21Z</dcterms:created>
  <dcterms:modified xsi:type="dcterms:W3CDTF">2020-11-09T21:43:49Z</dcterms:modified>
</cp:coreProperties>
</file>