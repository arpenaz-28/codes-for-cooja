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2200" b="1" i="0">
                <a:solidFill>
                  <a:srgbClr val="222222"/>
                </a:solidFill>
                <a:latin typeface="Times New Roman"/>
              </a:rPr>
              <a:t>MTP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66928"/>
            <a:ext cx="12188952" cy="2743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Times New Roman"/>
              </a:rPr>
              <a:t>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5912" cy="16459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Times New Roman"/>
              </a:rPr>
              <a:t>Lightweight, Anonymous, and Decoupled Distributed
Authentication for Multihop IoT Networks</a:t>
            </a:r>
          </a:p>
        </p:txBody>
      </p:sp>
      <p:pic>
        <p:nvPicPr>
          <p:cNvPr id="5" name="Picture 4" descr="IIT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65176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617720"/>
            <a:ext cx="10725912" cy="20116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>
              <a:spcBef>
                <a:spcPts val="200"/>
              </a:spcBef>
            </a:pPr>
            <a:r>
              <a:rPr sz="2000" b="1" i="0">
                <a:solidFill>
                  <a:srgbClr val="222222"/>
                </a:solidFill>
                <a:latin typeface="Times New Roman"/>
              </a:rPr>
              <a:t>Anup Kulkarni</a:t>
            </a:r>
          </a:p>
          <a:p>
            <a:pPr algn="ctr">
              <a:spcBef>
                <a:spcPts val="200"/>
              </a:spcBef>
            </a:pPr>
            <a:r>
              <a:rPr sz="2000" b="0" i="0">
                <a:solidFill>
                  <a:srgbClr val="222222"/>
                </a:solidFill>
                <a:latin typeface="Times New Roman"/>
              </a:rPr>
              <a:t>Roll No.: 224101017</a:t>
            </a:r>
          </a:p>
          <a:p>
            <a:pPr algn="ctr">
              <a:spcBef>
                <a:spcPts val="200"/>
              </a:spcBef>
            </a:pPr>
            <a:r>
              <a:rPr sz="2000" b="0" i="0">
                <a:solidFill>
                  <a:srgbClr val="222222"/>
                </a:solidFill>
                <a:latin typeface="Times New Roman"/>
              </a:rPr>
              <a:t>M.Tech., Computer Science &amp; Engineering</a:t>
            </a:r>
          </a:p>
          <a:p>
            <a:pPr algn="ctr">
              <a:spcBef>
                <a:spcPts val="200"/>
              </a:spcBef>
            </a:pPr>
            <a:r>
              <a:rPr sz="2000" b="0" i="0">
                <a:solidFill>
                  <a:srgbClr val="222222"/>
                </a:solidFill>
                <a:latin typeface="Times New Roman"/>
              </a:rPr>
              <a:t>Indian Institute of Technology Guwahati, Assam</a:t>
            </a:r>
          </a:p>
          <a:p>
            <a:pPr algn="ctr">
              <a:spcBef>
                <a:spcPts val="200"/>
              </a:spcBef>
            </a:pPr>
            <a:r>
              <a:rPr sz="2000" b="0" i="0">
                <a:solidFill>
                  <a:srgbClr val="222222"/>
                </a:solidFill>
                <a:latin typeface="Times New Roman"/>
              </a:rPr>
              <a:t/>
            </a:r>
          </a:p>
          <a:p>
            <a:pPr algn="ctr">
              <a:spcBef>
                <a:spcPts val="200"/>
              </a:spcBef>
            </a:pPr>
            <a:r>
              <a:rPr sz="2000" b="0" i="0">
                <a:solidFill>
                  <a:srgbClr val="222222"/>
                </a:solidFill>
                <a:latin typeface="Times New Roman"/>
              </a:rPr>
              <a:t>Guide: Prof. Manas Khatua</a:t>
            </a:r>
          </a:p>
          <a:p>
            <a:pPr algn="ctr">
              <a:spcBef>
                <a:spcPts val="200"/>
              </a:spcBef>
            </a:pPr>
            <a:r>
              <a:rPr sz="2000" b="0" i="0">
                <a:solidFill>
                  <a:srgbClr val="222222"/>
                </a:solidFill>
                <a:latin typeface="Times New Roman"/>
              </a:rPr>
              <a:t>Co-investigator: Sreeparna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Table of 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3936" y="749808"/>
            <a:ext cx="274320" cy="603504"/>
          </a:xfrm>
          <a:prstGeom prst="roundRect">
            <a:avLst/>
          </a:prstGeom>
          <a:solidFill>
            <a:srgbClr val="E0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73936" y="1152144"/>
            <a:ext cx="274320" cy="201168"/>
          </a:xfrm>
          <a:prstGeom prst="roundRect">
            <a:avLst/>
          </a:prstGeom>
          <a:solidFill>
            <a:srgbClr val="B8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749808"/>
            <a:ext cx="7955279" cy="603504"/>
          </a:xfrm>
          <a:prstGeom prst="roundRect">
            <a:avLst/>
          </a:prstGeom>
          <a:solidFill>
            <a:srgbClr val="E04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3936" y="1389888"/>
            <a:ext cx="274320" cy="603504"/>
          </a:xfrm>
          <a:prstGeom prst="roundRect">
            <a:avLst/>
          </a:prstGeom>
          <a:solidFill>
            <a:srgbClr val="3A8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3936" y="1792224"/>
            <a:ext cx="274320" cy="201168"/>
          </a:xfrm>
          <a:prstGeom prst="roundRect">
            <a:avLst/>
          </a:prstGeom>
          <a:solidFill>
            <a:srgbClr val="125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03120" y="1389888"/>
            <a:ext cx="7955279" cy="603504"/>
          </a:xfrm>
          <a:prstGeom prst="roundRect">
            <a:avLst/>
          </a:prstGeom>
          <a:solidFill>
            <a:srgbClr val="3A8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3936" y="2029968"/>
            <a:ext cx="274320" cy="603504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73936" y="2432304"/>
            <a:ext cx="274320" cy="201168"/>
          </a:xfrm>
          <a:prstGeom prst="roundRect">
            <a:avLst/>
          </a:prstGeom>
          <a:solidFill>
            <a:srgbClr val="5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2029968"/>
            <a:ext cx="7955279" cy="603504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Research Gap &amp; Motivation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3936" y="2670048"/>
            <a:ext cx="274320" cy="603504"/>
          </a:xfrm>
          <a:prstGeom prst="round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3936" y="3072384"/>
            <a:ext cx="274320" cy="201168"/>
          </a:xfrm>
          <a:prstGeom prst="roundRect">
            <a:avLst/>
          </a:prstGeom>
          <a:solidFill>
            <a:srgbClr val="563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2670048"/>
            <a:ext cx="7955279" cy="603504"/>
          </a:xfrm>
          <a:prstGeom prst="round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Proposed Scheme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73936" y="3310128"/>
            <a:ext cx="274320" cy="603504"/>
          </a:xfrm>
          <a:prstGeom prst="round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73936" y="3712464"/>
            <a:ext cx="274320" cy="201168"/>
          </a:xfrm>
          <a:prstGeom prst="roundRect">
            <a:avLst/>
          </a:prstGeom>
          <a:solidFill>
            <a:srgbClr val="00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03120" y="3310128"/>
            <a:ext cx="7955279" cy="603504"/>
          </a:xfrm>
          <a:prstGeom prst="round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Security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73936" y="3950208"/>
            <a:ext cx="274320" cy="603504"/>
          </a:xfrm>
          <a:prstGeom prst="round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73936" y="4352544"/>
            <a:ext cx="274320" cy="201168"/>
          </a:xfrm>
          <a:prstGeom prst="roundRect">
            <a:avLst/>
          </a:prstGeom>
          <a:solidFill>
            <a:srgbClr val="B8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03120" y="3950208"/>
            <a:ext cx="7955279" cy="603504"/>
          </a:xfrm>
          <a:prstGeom prst="round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Performance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73936" y="4590288"/>
            <a:ext cx="274320" cy="603504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73936" y="4992624"/>
            <a:ext cx="274320" cy="201168"/>
          </a:xfrm>
          <a:prstGeom prst="roundRect">
            <a:avLst/>
          </a:prstGeom>
          <a:solidFill>
            <a:srgbClr val="6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03120" y="4590288"/>
            <a:ext cx="7955279" cy="603504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Conclusion &amp; Future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73936" y="5230368"/>
            <a:ext cx="274320" cy="603504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73936" y="5632704"/>
            <a:ext cx="274320" cy="201168"/>
          </a:xfrm>
          <a:prstGeom prst="roundRect">
            <a:avLst/>
          </a:prstGeom>
          <a:solidFill>
            <a:srgbClr val="043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03120" y="5230368"/>
            <a:ext cx="7955279" cy="603504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5400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IoT: Growth and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1371600" cy="658368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 bIns="0" rIns="45720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Temperature
Sensor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719072"/>
            <a:ext cx="1371600" cy="658368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 bIns="0" rIns="45720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Smart Camera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615184"/>
            <a:ext cx="1371600" cy="658368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 bIns="0" rIns="45720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Medical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511296"/>
            <a:ext cx="1371600" cy="658368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 bIns="0" rIns="45720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Smart 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407408"/>
            <a:ext cx="1371600" cy="658368"/>
          </a:xfrm>
          <a:prstGeom prst="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 bIns="0" rIns="45720"/>
          <a:lstStyle/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Industrial Node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11680"/>
            <a:ext cx="1645920" cy="1280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45720" bIns="0" rIns="45720"/>
          <a:lstStyle/>
          <a:p>
            <a:pPr algn="ctr">
              <a:spcBef>
                <a:spcPts val="300"/>
              </a:spcBef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GATEWAY</a:t>
            </a:r>
          </a:p>
          <a:p>
            <a:pPr algn="ctr">
              <a:spcBef>
                <a:spcPts val="300"/>
              </a:spcBef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(Border Router)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005840"/>
            <a:ext cx="192024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lIns="45720" bIns="0" rIns="45720"/>
          <a:lstStyle/>
          <a:p>
            <a:pPr algn="ctr">
              <a:spcBef>
                <a:spcPts val="300"/>
              </a:spcBef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AUTH SERVER</a:t>
            </a:r>
          </a:p>
          <a:p>
            <a:pPr algn="ctr">
              <a:spcBef>
                <a:spcPts val="300"/>
              </a:spcBef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(Any capable node)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1920240" cy="1280160"/>
          </a:xfrm>
          <a:prstGeom prst="round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6032" lIns="45720" bIns="0" rIns="45720"/>
          <a:lstStyle/>
          <a:p>
            <a:pPr algn="ctr">
              <a:spcBef>
                <a:spcPts val="300"/>
              </a:spcBef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INTERNET</a:t>
            </a:r>
          </a:p>
          <a:p>
            <a:pPr algn="ctr">
              <a:spcBef>
                <a:spcPts val="300"/>
              </a:spcBef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/ Cloud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1152144"/>
            <a:ext cx="640080" cy="1499616"/>
          </a:xfrm>
          <a:prstGeom prst="line">
            <a:avLst/>
          </a:prstGeom>
          <a:ln w="19050">
            <a:solidFill>
              <a:srgbClr val="E07B5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45920" y="2048256"/>
            <a:ext cx="640080" cy="603504"/>
          </a:xfrm>
          <a:prstGeom prst="line">
            <a:avLst/>
          </a:prstGeom>
          <a:ln w="19050">
            <a:solidFill>
              <a:srgbClr val="7B8B2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45920" y="2651760"/>
            <a:ext cx="640080" cy="292608"/>
          </a:xfrm>
          <a:prstGeom prst="line">
            <a:avLst/>
          </a:prstGeom>
          <a:ln w="19050">
            <a:solidFill>
              <a:srgbClr val="7EB3D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45920" y="2651760"/>
            <a:ext cx="640080" cy="1188720"/>
          </a:xfrm>
          <a:prstGeom prst="line">
            <a:avLst/>
          </a:prstGeom>
          <a:ln w="19050">
            <a:solidFill>
              <a:srgbClr val="7E5BA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45920" y="2651760"/>
            <a:ext cx="640080" cy="2084832"/>
          </a:xfrm>
          <a:prstGeom prst="line">
            <a:avLst/>
          </a:prstGeom>
          <a:ln w="19050">
            <a:solidFill>
              <a:srgbClr val="00696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931920" y="1554480"/>
            <a:ext cx="640080" cy="841248"/>
          </a:xfrm>
          <a:prstGeom prst="line">
            <a:avLst/>
          </a:prstGeom>
          <a:ln w="25400">
            <a:solidFill>
              <a:srgbClr val="2C5F2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31920" y="2907792"/>
            <a:ext cx="640080" cy="475488"/>
          </a:xfrm>
          <a:prstGeom prst="line">
            <a:avLst/>
          </a:prstGeom>
          <a:ln w="25400">
            <a:solidFill>
              <a:srgbClr val="2C5F2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804672"/>
            <a:ext cx="5120640" cy="4114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Times New Roman"/>
              </a:rPr>
              <a:t>Key Statistics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" y="1261872"/>
            <a:ext cx="11640312" cy="0"/>
          </a:xfrm>
          <a:prstGeom prst="line">
            <a:avLst/>
          </a:prstGeom>
          <a:ln w="19050">
            <a:solidFill>
              <a:srgbClr val="2C5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949440" y="1371600"/>
            <a:ext cx="5120640" cy="1005840"/>
          </a:xfrm>
          <a:prstGeom prst="rect">
            <a:avLst/>
          </a:prstGeom>
          <a:solidFill>
            <a:srgbClr val="E8F5E8"/>
          </a:solidFill>
          <a:ln w="63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2200" b="1" i="0">
                <a:solidFill>
                  <a:srgbClr val="2C5F2D"/>
                </a:solidFill>
                <a:latin typeface="Times New Roman"/>
              </a:rPr>
              <a:t>50 Billion+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connected IoT devices projected by 2030 (Ericsson)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450592"/>
            <a:ext cx="5120640" cy="1005840"/>
          </a:xfrm>
          <a:prstGeom prst="rect">
            <a:avLst/>
          </a:prstGeom>
          <a:solidFill>
            <a:srgbClr val="E8F5E8"/>
          </a:solidFill>
          <a:ln w="63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2200" b="1" i="0">
                <a:solidFill>
                  <a:srgbClr val="2C5F2D"/>
                </a:solidFill>
                <a:latin typeface="Times New Roman"/>
              </a:rPr>
              <a:t>15.9 Billion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active IoT endpoints globally in 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3529584"/>
            <a:ext cx="5120640" cy="1005840"/>
          </a:xfrm>
          <a:prstGeom prst="rect">
            <a:avLst/>
          </a:prstGeom>
          <a:solidFill>
            <a:srgbClr val="E8F5E8"/>
          </a:solidFill>
          <a:ln w="63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2200" b="1" i="0">
                <a:solidFill>
                  <a:srgbClr val="2C5F2D"/>
                </a:solidFill>
                <a:latin typeface="Times New Roman"/>
              </a:rPr>
              <a:t>4× Growth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in connected devices over the past decade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4608576"/>
            <a:ext cx="5120640" cy="1005840"/>
          </a:xfrm>
          <a:prstGeom prst="rect">
            <a:avLst/>
          </a:prstGeom>
          <a:solidFill>
            <a:srgbClr val="E8F5E8"/>
          </a:solidFill>
          <a:ln w="63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/>
            <a:r>
              <a:rPr sz="2200" b="1" i="0">
                <a:solidFill>
                  <a:srgbClr val="2C5F2D"/>
                </a:solidFill>
                <a:latin typeface="Times New Roman"/>
              </a:rPr>
              <a:t>80%+ Devices</a:t>
            </a:r>
          </a:p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are resource-constrained (CPU ≤ 100 MHz, RAM &lt; 256 KB)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650992"/>
            <a:ext cx="5120640" cy="5486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Application Domains: Smart Homes  •  Healthcare  •  Industrial Automation  •  Agriculture  •  Transportation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IoT Security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804672"/>
            <a:ext cx="5715000" cy="1645920"/>
          </a:xfrm>
          <a:prstGeom prst="rect">
            <a:avLst/>
          </a:prstGeom>
          <a:solidFill>
            <a:srgbClr val="FFFFFE"/>
          </a:solidFill>
          <a:ln w="1905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804672"/>
            <a:ext cx="5715000" cy="347472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8100"/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Resource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207008"/>
            <a:ext cx="5495544" cy="11704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IoT devices have minimal CPU (≤100 MHz), RAM (&lt;256 KB) and battery.
Heavy cryptography is infeasible — schemes must be lightweight.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804672"/>
            <a:ext cx="57150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804672"/>
            <a:ext cx="5715000" cy="347472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8100"/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Open Wireless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0488" y="1207008"/>
            <a:ext cx="5495544" cy="11704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messages are broadcast over shared wireless medium.
Any nearby attacker can intercept, replay, or modify packets.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2578608"/>
            <a:ext cx="5715000" cy="1645920"/>
          </a:xfrm>
          <a:prstGeom prst="rect">
            <a:avLst/>
          </a:prstGeom>
          <a:solidFill>
            <a:srgbClr val="FFFFD7"/>
          </a:solidFill>
          <a:ln w="19050">
            <a:solidFill>
              <a:srgbClr val="7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2578608"/>
            <a:ext cx="5715000" cy="347472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8100"/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No Physical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980944"/>
            <a:ext cx="5495544" cy="11704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Sensor nodes are deployed in uncontrolled environments (forests, hospitals, factories).
Physical capture → secret extraction is a real threat.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78608"/>
            <a:ext cx="5715000" cy="1645920"/>
          </a:xfrm>
          <a:prstGeom prst="rect">
            <a:avLst/>
          </a:prstGeom>
          <a:solidFill>
            <a:srgbClr val="AAFFFF"/>
          </a:solidFill>
          <a:ln w="19050">
            <a:solidFill>
              <a:srgbClr val="006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2578608"/>
            <a:ext cx="5715000" cy="347472"/>
          </a:xfrm>
          <a:prstGeom prst="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8100"/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Multihop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980944"/>
            <a:ext cx="5495544" cy="11704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 device is rarely one hop from the Authentication Server.
Intermediate nodes relay messages — each hop is a potential attacker.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4352544"/>
            <a:ext cx="5715000" cy="1645920"/>
          </a:xfrm>
          <a:prstGeom prst="rect">
            <a:avLst/>
          </a:prstGeom>
          <a:solidFill>
            <a:srgbClr val="FFAAAA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4352544"/>
            <a:ext cx="571500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8100"/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Identity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" y="4754880"/>
            <a:ext cx="5495544" cy="11704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Transmitting real device identity in plaintext enables tracking and profiling.
Privacy regulations (GDPR) mandate identity protection.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4352544"/>
            <a:ext cx="57150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4352544"/>
            <a:ext cx="5715000" cy="347472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8100"/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4754880"/>
            <a:ext cx="5495544" cy="11704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Networks can contain thousands of nodes, many newly joining.
Pre-distribution of shared keys does not scale — dynamic auth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Why Authentication is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749808"/>
            <a:ext cx="5650992" cy="5833872"/>
          </a:xfrm>
          <a:prstGeom prst="rect">
            <a:avLst/>
          </a:prstGeom>
          <a:solidFill>
            <a:srgbClr val="FFEBEE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749808"/>
            <a:ext cx="5650992" cy="4754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5650992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✗  Without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88720" cy="658368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Device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463040"/>
            <a:ext cx="1280160" cy="65836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Gateway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1792223"/>
            <a:ext cx="2468880" cy="0"/>
          </a:xfrm>
          <a:prstGeom prst="line">
            <a:avLst/>
          </a:prstGeom>
          <a:ln w="31750">
            <a:solidFill>
              <a:srgbClr val="CC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37360" y="1591056"/>
            <a:ext cx="2377440" cy="2743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100" b="0" i="0">
                <a:solidFill>
                  <a:srgbClr val="CC0000"/>
                </a:solidFill>
                <a:latin typeface="Times New Roman"/>
              </a:rPr>
              <a:t>"I am Device X" (plaintext!)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1792223"/>
            <a:ext cx="0" cy="832104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011680" y="2624327"/>
            <a:ext cx="1371600" cy="594360"/>
          </a:xfrm>
          <a:prstGeom prst="rect">
            <a:avLst/>
          </a:prstGeom>
          <a:solidFill>
            <a:srgbClr val="FFEBEE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300" b="1" i="0">
                <a:solidFill>
                  <a:srgbClr val="CC0000"/>
                </a:solidFill>
                <a:latin typeface="Times New Roman"/>
              </a:rPr>
              <a:t>⚠ ATTACKER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3401568"/>
            <a:ext cx="532180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5193792" cy="3200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CC0000"/>
                </a:solidFill>
                <a:latin typeface="Times New Roman"/>
              </a:rPr>
              <a:t>Consequences: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Malicious node sends fake ID → gains network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15968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Real device identity exposed → tracking possible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91456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No replay protection → captured message reused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66944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No accountability → attacker cannot be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42432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MitM attack: attacker relays/alters all messages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749808"/>
            <a:ext cx="5650992" cy="5833872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749808"/>
            <a:ext cx="5650992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804672"/>
            <a:ext cx="5650992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✓  With Authentication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63040"/>
            <a:ext cx="1188720" cy="6583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Device 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1463040"/>
            <a:ext cx="1280160" cy="65836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Gateway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43800" y="1792223"/>
            <a:ext cx="2468880" cy="0"/>
          </a:xfrm>
          <a:prstGeom prst="line">
            <a:avLst/>
          </a:prstGeom>
          <a:ln w="31750">
            <a:solidFill>
              <a:srgbClr val="1B5E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62088" y="1572768"/>
            <a:ext cx="2377440" cy="2743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  <a:latin typeface="Times New Roman"/>
              </a:rPr>
              <a:t>PID (pseudonym) + Proof  [Encrypted]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194560"/>
            <a:ext cx="1371600" cy="2743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Times New Roman"/>
              </a:rPr>
              <a:t>✓ Verified!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401568"/>
            <a:ext cx="532180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5193792" cy="3200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  <a:latin typeface="Times New Roman"/>
              </a:rPr>
              <a:t>Benefits: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40480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Only verified devices join → rogue nodes blocked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15968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Pseudonym (PID) used → real identity never exposed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791456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Fresh nonce per session → replay attacks impossible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266944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Mutual authentication → both sides are 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742432"/>
            <a:ext cx="5193792" cy="457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Desync recovery → no re-enrollment if packet lost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What Makes Authentication Hard in IoT?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" y="758952"/>
            <a:ext cx="164592" cy="1060704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758952"/>
            <a:ext cx="109728" cy="1060704"/>
          </a:xfrm>
          <a:prstGeom prst="rect">
            <a:avLst/>
          </a:prstGeom>
          <a:solidFill>
            <a:srgbClr val="F0B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097280"/>
            <a:ext cx="384048" cy="384048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850392"/>
            <a:ext cx="10954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E07B54"/>
                </a:solidFill>
                <a:latin typeface="Times New Roman"/>
              </a:rPr>
              <a:t>Low Compute Power: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Symmetric/asymmetric crypto at scale is expensive. A scheme must complete in milliseconds on a 100 MHz MCU.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" y="1883664"/>
            <a:ext cx="164592" cy="1060704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83664"/>
            <a:ext cx="109728" cy="1060704"/>
          </a:xfrm>
          <a:prstGeom prst="rect">
            <a:avLst/>
          </a:prstGeom>
          <a:solidFill>
            <a:srgbClr val="BBC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221992"/>
            <a:ext cx="384048" cy="384048"/>
          </a:xfrm>
          <a:prstGeom prst="ellipse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1975104"/>
            <a:ext cx="10954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7B8B2D"/>
                </a:solidFill>
                <a:latin typeface="Times New Roman"/>
              </a:rPr>
              <a:t>No Stable Power Source: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Battery-powered nodes survive on millijoules. Energy per authentication round directly impacts device lifetime.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" y="3008376"/>
            <a:ext cx="164592" cy="106070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008376"/>
            <a:ext cx="109728" cy="1060704"/>
          </a:xfrm>
          <a:prstGeom prst="rect">
            <a:avLst/>
          </a:prstGeom>
          <a:solidFill>
            <a:srgbClr val="5B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099816"/>
            <a:ext cx="10954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1B5E20"/>
                </a:solidFill>
                <a:latin typeface="Times New Roman"/>
              </a:rPr>
              <a:t>Multihop Topology: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Device is rarely one hop from the Authentication Server. The protocol must work across multiple intermediate relay nodes.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" y="4133088"/>
            <a:ext cx="164592" cy="1060704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133088"/>
            <a:ext cx="109728" cy="1060704"/>
          </a:xfrm>
          <a:prstGeom prst="rect">
            <a:avLst/>
          </a:prstGeom>
          <a:solidFill>
            <a:srgbClr val="BE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471416"/>
            <a:ext cx="384048" cy="384048"/>
          </a:xfrm>
          <a:prstGeom prst="ellipse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224528"/>
            <a:ext cx="10954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7EB3D8"/>
                </a:solidFill>
                <a:latin typeface="Times New Roman"/>
              </a:rPr>
              <a:t>Identity Privacy Requirement: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Real device ID must never travel on the open channel. Pseudonym rotation must be efficient and desync-resilient.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" y="5257800"/>
            <a:ext cx="164592" cy="1060704"/>
          </a:xfrm>
          <a:prstGeom prst="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257800"/>
            <a:ext cx="109728" cy="1060704"/>
          </a:xfrm>
          <a:prstGeom prst="rect">
            <a:avLst/>
          </a:prstGeom>
          <a:solidFill>
            <a:srgbClr val="66A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5596128"/>
            <a:ext cx="384048" cy="384048"/>
          </a:xfrm>
          <a:prstGeom prst="ellipse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" y="5349240"/>
            <a:ext cx="10954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00696C"/>
                </a:solidFill>
                <a:latin typeface="Times New Roman"/>
              </a:rPr>
              <a:t>No Pre-shared Keys at Scale: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With thousands of dynamically-joining nodes, key pre-distribution is impractical. PUF-based derivation is preferred.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6032" y="749808"/>
          <a:ext cx="12024360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4206240"/>
                <a:gridCol w="3154680"/>
              </a:tblGrid>
              <a:tr h="855617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Author (Year)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Scheme / Venue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Features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Limitations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855617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Das &amp; Khatua
(2026)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DAuth
COMSNETS 2026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Decoupled AS selection, PUF-based secret derivation,
hash accumulator for group membership, 4-phase protocol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anonymity (real ID sent on channel);
No desynchronisation recovery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</a:tr>
              <a:tr h="855617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Ali &amp; Ahmed
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LAAKA
Comp.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Anonymous auth for fog-driven IoT;
ECC-based; lightweight claimed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Centralized fog node (not decoupled);
High overhead on constrained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5617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X. Zhou et al.
(2024)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Zhou
IEEE IoT J.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Anonymity-preserving user auth for healthcare IoT;
Includes revocation mechanism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Fixed/centralized auth server;
No desync recovery; higher comm. cost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</a:tr>
              <a:tr h="855617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Wazid et al.
(2021)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IIOT Auth
IEEE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Three-factor auth for Industrial IoT;
Biometric + smart card +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 suited for multihop;
High computation on constrained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5617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Banerjee et al.
(2022)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PUF-IoT
IEEE IoT J.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PUF-based lightweight mutual auth;
Resists physical attacks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anonymity; no group membership;
Fixed auth infrastructure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</a:tr>
              <a:tr h="85561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</a:rPr>
                        <a:t>Proposed
(This work)</a:t>
                      </a:r>
                    </a:p>
                  </a:txBody>
                  <a:tcPr>
                    <a:solidFill>
                      <a:srgbClr val="D0E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</a:rPr>
                        <a:t>Anup et al.
MTP 2026</a:t>
                      </a:r>
                    </a:p>
                  </a:txBody>
                  <a:tcPr>
                    <a:solidFill>
                      <a:srgbClr val="D0E8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Pseudonym rotation (PID), dual-state desync recovery,
Decoupled AS, PUF-based, 4-phase, multihop</a:t>
                      </a:r>
                    </a:p>
                  </a:txBody>
                  <a:tcPr>
                    <a:solidFill>
                      <a:srgbClr val="D0E8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B5E20"/>
                          </a:solidFill>
                          <a:latin typeface="Times New Roman"/>
                        </a:rPr>
                        <a:t>—  (all identified gaps addressed)</a:t>
                      </a:r>
                    </a:p>
                  </a:txBody>
                  <a:tcPr>
                    <a:solidFill>
                      <a:srgbClr val="D0E8D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Feature Comparison of Authentication Schemes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6032" y="749808"/>
          <a:ext cx="11155680" cy="5961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48840"/>
                <a:gridCol w="2148840"/>
                <a:gridCol w="2148840"/>
                <a:gridCol w="2148840"/>
              </a:tblGrid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Security Feature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DAuth
(Das 2026)</a:t>
                      </a:r>
                    </a:p>
                  </a:txBody>
                  <a:tcPr>
                    <a:solidFill>
                      <a:srgbClr val="7E5B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LAAKA
(Ali 2024)</a:t>
                      </a:r>
                    </a:p>
                  </a:txBody>
                  <a:tcP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Zhou
(2024)</a:t>
                      </a:r>
                    </a:p>
                  </a:txBody>
                  <a:tcPr>
                    <a:solidFill>
                      <a:srgbClr val="0055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Proposed
(This Work)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Anonymity
(PID rotation)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Desync
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Decoupled
Auth Server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PUF-based
(no key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Multihop
Support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Formal
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</a:rPr>
                        <a:t>Low Overhead
(COOJA)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C0000"/>
                          </a:solidFill>
                          <a:latin typeface="Times New Roman"/>
                        </a:rPr>
                        <a:t>✗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1B5E2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200" b="0" i="0">
                <a:solidFill>
                  <a:srgbClr val="FFFFFF"/>
                </a:solidFill>
                <a:latin typeface="Times New Roman"/>
              </a:rPr>
              <a:t>DAuth — The Base Scheme  (Das &amp; Khatua, COMSNETS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04672"/>
            <a:ext cx="603504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76072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"Lightweight and Decoupled Distributed Authentication for IoT" — COMSNETS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6035040" cy="1170432"/>
          </a:xfrm>
          <a:prstGeom prst="rect">
            <a:avLst/>
          </a:prstGeom>
          <a:solidFill>
            <a:srgbClr val="D4FFD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56032" cy="11704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557784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  <a:latin typeface="Times New Roman"/>
              </a:rPr>
              <a:t>Phase 1: Enrollment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10512"/>
            <a:ext cx="5577840" cy="65836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Device registers with AS using PUF response R_D. AS stores a hash-based accumulator (no R_D stored).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96896"/>
            <a:ext cx="60350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596896"/>
            <a:ext cx="256032" cy="1170432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670048"/>
            <a:ext cx="557784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7EB3D8"/>
                </a:solidFill>
                <a:latin typeface="Times New Roman"/>
              </a:rPr>
              <a:t>Phase 2: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35808"/>
            <a:ext cx="5577840" cy="65836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Device proves identity to GW-selected AS using PUF-derived tokens. Mutual authentication via challenge-response.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22192"/>
            <a:ext cx="603504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822192"/>
            <a:ext cx="256032" cy="1170432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95344"/>
            <a:ext cx="557784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E07B54"/>
                </a:solidFill>
                <a:latin typeface="Times New Roman"/>
              </a:rPr>
              <a:t>Phase 3: Key Exchange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261104"/>
            <a:ext cx="5577840" cy="65836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Session key SK established between D and AS. GW facilitates but does not learn 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47488"/>
            <a:ext cx="6035040" cy="1170432"/>
          </a:xfrm>
          <a:prstGeom prst="rect">
            <a:avLst/>
          </a:prstGeom>
          <a:solidFill>
            <a:srgbClr val="FFFFE6"/>
          </a:solidFill>
          <a:ln w="15240">
            <a:solidFill>
              <a:srgbClr val="7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047488"/>
            <a:ext cx="256032" cy="1170432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120640"/>
            <a:ext cx="557784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7B8B2D"/>
                </a:solidFill>
                <a:latin typeface="Times New Roman"/>
              </a:rPr>
              <a:t>Phase 4: Data 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486400"/>
            <a:ext cx="5577840" cy="65836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Encrypted data exchange using SK. GW acts as relay; AS verifies message authenticity.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364224"/>
            <a:ext cx="6035040" cy="841248"/>
          </a:xfrm>
          <a:prstGeom prst="rect">
            <a:avLst/>
          </a:prstGeom>
          <a:solidFill>
            <a:srgbClr val="FFEBEE"/>
          </a:solidFill>
          <a:ln w="1524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409944"/>
            <a:ext cx="6035040" cy="29260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Times New Roman"/>
              </a:rPr>
              <a:t>⚠  Limitation of DAuth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711696"/>
            <a:ext cx="5760720" cy="43891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200" b="0" i="0">
                <a:solidFill>
                  <a:srgbClr val="CC0000"/>
                </a:solidFill>
                <a:latin typeface="Times New Roman"/>
              </a:rPr>
              <a:t>Real device identity (ID_D) transmitted in plaintext.  |  No recovery if pseudonym state desyncs.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804672"/>
            <a:ext cx="548640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2C5F2D"/>
                </a:solidFill>
                <a:latin typeface="Times New Roman"/>
              </a:rPr>
              <a:t>Enrollment Phase Diagram</a:t>
            </a:r>
          </a:p>
        </p:txBody>
      </p:sp>
      <p:pic>
        <p:nvPicPr>
          <p:cNvPr id="25" name="Picture 24" descr="fig_enroll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70432"/>
            <a:ext cx="5486400" cy="54132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Comparison Schemes: LAAKA and Zhou et al.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08192" y="749808"/>
            <a:ext cx="0" cy="5998464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6032" y="749808"/>
            <a:ext cx="5687568" cy="6217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822960"/>
            <a:ext cx="5687568" cy="5029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imes New Roman"/>
              </a:rPr>
              <a:t>LAAKA  —  Ali &amp; Ahmed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1444752"/>
            <a:ext cx="5413248" cy="10515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Hala Ali &amp; Irfan Ahmed (Virginia Commonwealth University)
"LAAKA: Lightweight Anonymous Authentication and Key Agreement
 Scheme for Secure Fog-Driven IoT Systems"
Computers &amp; Security 140 (2024) 103770  [Elsevier]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56032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1B5E20"/>
                </a:solidFill>
                <a:latin typeface="Times New Roman"/>
              </a:rPr>
              <a:t>Architecture: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Fog-node-based; clients (IoT devices), fog nodes, cloud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329184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1B5E20"/>
                </a:solidFill>
                <a:latin typeface="Times New Roman"/>
              </a:rPr>
              <a:t>Anonymity: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Anonymous authentication via pseudonyms; ECC-based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402336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1B5E20"/>
                </a:solidFill>
                <a:latin typeface="Times New Roman"/>
              </a:rPr>
              <a:t>Key Exchange: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Session key established between device and fog node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475488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1B5E20"/>
                </a:solidFill>
                <a:latin typeface="Times New Roman"/>
              </a:rPr>
              <a:t>Claimed: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Lightweight and suitable for resource-constrained IoT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5486400"/>
            <a:ext cx="5413248" cy="658368"/>
          </a:xfrm>
          <a:prstGeom prst="rect">
            <a:avLst/>
          </a:prstGeom>
          <a:solidFill>
            <a:srgbClr val="FFEBEE"/>
          </a:solidFill>
          <a:ln w="1016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CC0000"/>
                </a:solidFill>
                <a:latin typeface="Times New Roman"/>
              </a:rPr>
              <a:t>Gap →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Centralized fog node; not decoupled. High overhead on 802.15.4 nodes.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49808"/>
            <a:ext cx="5687568" cy="621792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822960"/>
            <a:ext cx="5687568" cy="5029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imes New Roman"/>
              </a:rPr>
              <a:t>Zhou et al.  —  Xin Zhou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5413248" cy="10515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Xin Zhou et al.
"Security-Enhanced Lightweight and Anonymity-Preserving
 User Authentication Scheme for IoT-Based Healthcare"
IEEE Internet of Things Journal, Vol. 11, No. 6 (2024)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56032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5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005599"/>
                </a:solidFill>
                <a:latin typeface="Times New Roman"/>
              </a:rPr>
              <a:t>Architecture: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Three-party: healthcare IoT device, gateway, remote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29184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5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005599"/>
                </a:solidFill>
                <a:latin typeface="Times New Roman"/>
              </a:rPr>
              <a:t>Anonymity: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Preserves user anonymity; dynamic pseudonym 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402336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5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005599"/>
                </a:solidFill>
                <a:latin typeface="Times New Roman"/>
              </a:rPr>
              <a:t>Security: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Resistance to replay, impersonation, and offline dictionary attacks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4754880"/>
            <a:ext cx="541324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05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005599"/>
                </a:solidFill>
                <a:latin typeface="Times New Roman"/>
              </a:rPr>
              <a:t>Claimed: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Lightweight computation suitable for IoT healthcare setting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5486400"/>
            <a:ext cx="5413248" cy="658368"/>
          </a:xfrm>
          <a:prstGeom prst="rect">
            <a:avLst/>
          </a:prstGeom>
          <a:solidFill>
            <a:srgbClr val="FFEBEE"/>
          </a:solidFill>
          <a:ln w="1016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3500"/>
          <a:lstStyle/>
          <a:p>
            <a:pPr algn="l"/>
            <a:r>
              <a:rPr sz="1300" b="1">
                <a:solidFill>
                  <a:srgbClr val="CC0000"/>
                </a:solidFill>
                <a:latin typeface="Times New Roman"/>
              </a:rPr>
              <a:t>Gap → </a:t>
            </a:r>
            <a:r>
              <a:rPr sz="1300" b="0">
                <a:solidFill>
                  <a:srgbClr val="222222"/>
                </a:solidFill>
                <a:latin typeface="Times New Roman"/>
              </a:rPr>
              <a:t>Fixed/centralized auth server; no desync recovery; higher comm. overhead.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6473952"/>
            <a:ext cx="11631168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Times New Roman"/>
              </a:rPr>
              <a:t>Note: Both LAAKA and Zhou provide anonymity, but neither offers decoupled AS selection, PUF-based key derivation, or desynchronisation recovery — gaps addressed in this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Summary of Literature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88720" y="1325880"/>
            <a:ext cx="0" cy="4242816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14400" y="1143000"/>
            <a:ext cx="548640" cy="54864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106424"/>
            <a:ext cx="9966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2000" b="1" i="0">
                <a:solidFill>
                  <a:srgbClr val="E07B54"/>
                </a:solidFill>
                <a:latin typeface="Times New Roman"/>
              </a:rPr>
              <a:t>Lightweight is non-negotiable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508760"/>
            <a:ext cx="9966960" cy="8686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Public-key/ECC schemes (LAAKA, Zhou) achieve anonymity but impose high computation and communication cost on resource-constrained 802.15.4 nodes.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496312"/>
            <a:ext cx="548640" cy="548640"/>
          </a:xfrm>
          <a:prstGeom prst="ellipse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459736"/>
            <a:ext cx="9966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2000" b="1" i="0">
                <a:solidFill>
                  <a:srgbClr val="7B8B2D"/>
                </a:solidFill>
                <a:latin typeface="Times New Roman"/>
              </a:rPr>
              <a:t>Anonymity is increasingly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2072"/>
            <a:ext cx="9966960" cy="8686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Modern schemes (LAAKA, Zhou) hide user/device identity — but the base scheme DAuth still transmits the real identity ID_D in plaintext on the open channel.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49624"/>
            <a:ext cx="548640" cy="548640"/>
          </a:xfrm>
          <a:prstGeom prst="ellipse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13048"/>
            <a:ext cx="9966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2000" b="1" i="0">
                <a:solidFill>
                  <a:srgbClr val="00696C"/>
                </a:solidFill>
                <a:latin typeface="Times New Roman"/>
              </a:rPr>
              <a:t>Centralized auth servers limit 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15384"/>
            <a:ext cx="9966960" cy="8686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LAAKA (fog node) and Zhou (remote server) fix the authenticator. DAuth decouples it — any capable node can serve as AS — improving multihop scalability.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202936"/>
            <a:ext cx="548640" cy="548640"/>
          </a:xfrm>
          <a:prstGeom prst="ellipse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166360"/>
            <a:ext cx="9966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2000" b="1" i="0">
                <a:solidFill>
                  <a:srgbClr val="7E5BA6"/>
                </a:solidFill>
                <a:latin typeface="Times New Roman"/>
              </a:rPr>
              <a:t>Desynchronisation recovery is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5568696"/>
            <a:ext cx="9966960" cy="8686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No prior scheme recovers gracefully when a pseudonym-update packet is lost. A dropped packet forces costly re-enrollment.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" y="841248"/>
            <a:ext cx="164592" cy="1261872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09728" cy="1261872"/>
          </a:xfrm>
          <a:prstGeom prst="rect">
            <a:avLst/>
          </a:prstGeom>
          <a:solidFill>
            <a:srgbClr val="F0B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932688"/>
            <a:ext cx="10954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E07B54"/>
                </a:solidFill>
                <a:latin typeface="Times New Roman"/>
              </a:rPr>
              <a:t>Anonymity vs. Lightweight Trade-off: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Existing anonymous schemes (LAAKA, Zhou) rely on heavy ECC/public-key operations. A scheme that is both anonymous AND lightweight for constrained multihop IoT is missing.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" y="2194560"/>
            <a:ext cx="164592" cy="1261872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109728" cy="1261872"/>
          </a:xfrm>
          <a:prstGeom prst="rect">
            <a:avLst/>
          </a:prstGeom>
          <a:solidFill>
            <a:srgbClr val="BBC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633472"/>
            <a:ext cx="384048" cy="384048"/>
          </a:xfrm>
          <a:prstGeom prst="ellipse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286000"/>
            <a:ext cx="10954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7B8B2D"/>
                </a:solidFill>
                <a:latin typeface="Times New Roman"/>
              </a:rPr>
              <a:t>Identity Exposure in the Base Scheme: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DAuth transmits the real device identity ID_D on the open channel, enabling tracking and profiling — no pseudonym mechanism.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" y="3547872"/>
            <a:ext cx="164592" cy="12618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547872"/>
            <a:ext cx="109728" cy="1261872"/>
          </a:xfrm>
          <a:prstGeom prst="rect">
            <a:avLst/>
          </a:prstGeom>
          <a:solidFill>
            <a:srgbClr val="5B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639312"/>
            <a:ext cx="10954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1B5E20"/>
                </a:solidFill>
                <a:latin typeface="Times New Roman"/>
              </a:rPr>
              <a:t>No Desynchronisation Recovery: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If a pseudonym/nonce-update packet is lost, prior schemes cannot re-synchronise without full re-enrollment, wasting energy.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" y="4901184"/>
            <a:ext cx="164592" cy="1261872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901184"/>
            <a:ext cx="109728" cy="1261872"/>
          </a:xfrm>
          <a:prstGeom prst="rect">
            <a:avLst/>
          </a:prstGeom>
          <a:solidFill>
            <a:srgbClr val="BE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5340096"/>
            <a:ext cx="384048" cy="384048"/>
          </a:xfrm>
          <a:prstGeom prst="ellipse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992624"/>
            <a:ext cx="10954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700" b="1">
                <a:solidFill>
                  <a:srgbClr val="7EB3D8"/>
                </a:solidFill>
                <a:latin typeface="Times New Roman"/>
              </a:rPr>
              <a:t>Coupling of Authentication to Fixed Servers:</a:t>
            </a:r>
            <a:r>
              <a:rPr sz="1700" b="0">
                <a:solidFill>
                  <a:srgbClr val="222222"/>
                </a:solidFill>
                <a:latin typeface="Times New Roman"/>
              </a:rPr>
              <a:t> LAAKA and Zhou fix the authenticator (fog/remote server). A decoupled, gateway-selected AS is needed for multihop scalability.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Motivation: The Eavesdropping Threat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394460"/>
            <a:ext cx="1554480" cy="77724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45720" bIns="0" rIns="45720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Device D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394460"/>
            <a:ext cx="1691640" cy="7772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45720" bIns="0" rIns="45720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Auth 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74519" y="1783080"/>
            <a:ext cx="2057401" cy="0"/>
          </a:xfrm>
          <a:prstGeom prst="line">
            <a:avLst/>
          </a:prstGeom>
          <a:ln w="35560">
            <a:solidFill>
              <a:srgbClr val="CC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993392" y="996696"/>
            <a:ext cx="1828800" cy="566928"/>
          </a:xfrm>
          <a:prstGeom prst="rect">
            <a:avLst/>
          </a:prstGeom>
          <a:solidFill>
            <a:srgbClr val="FFEBEE"/>
          </a:solidFill>
          <a:ln w="1524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45720" bIns="0" rIns="45720"/>
          <a:lstStyle/>
          <a:p>
            <a:pPr algn="ctr">
              <a:spcBef>
                <a:spcPts val="200"/>
              </a:spcBef>
            </a:pPr>
            <a:r>
              <a:rPr sz="1200" b="1" i="0">
                <a:solidFill>
                  <a:srgbClr val="CC0000"/>
                </a:solidFill>
                <a:latin typeface="Times New Roman"/>
              </a:rPr>
              <a:t>"I am ID_D"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CC0000"/>
                </a:solidFill>
                <a:latin typeface="Times New Roman"/>
              </a:rPr>
              <a:t>(plaintext!)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783080"/>
            <a:ext cx="0" cy="1005840"/>
          </a:xfrm>
          <a:prstGeom prst="line">
            <a:avLst/>
          </a:prstGeom>
          <a:ln w="254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74520" y="2788920"/>
            <a:ext cx="1920240" cy="822960"/>
          </a:xfrm>
          <a:prstGeom prst="rect">
            <a:avLst/>
          </a:prstGeom>
          <a:solidFill>
            <a:srgbClr val="FFEBEE"/>
          </a:solidFill>
          <a:ln w="2032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45720" bIns="0" rIns="45720"/>
          <a:lstStyle/>
          <a:p>
            <a:pPr algn="ctr">
              <a:spcBef>
                <a:spcPts val="200"/>
              </a:spcBef>
            </a:pPr>
            <a:r>
              <a:rPr sz="1300" b="1" i="0">
                <a:solidFill>
                  <a:srgbClr val="CC0000"/>
                </a:solidFill>
                <a:latin typeface="Times New Roman"/>
              </a:rPr>
              <a:t>⚠ EAVESDROPPER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CC0000"/>
                </a:solidFill>
                <a:latin typeface="Times New Roman"/>
              </a:rPr>
              <a:t>captures ID_D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160520"/>
            <a:ext cx="5532120" cy="676656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35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Device Tracking:  </a:t>
            </a:r>
            <a:r>
              <a:rPr sz="1300">
                <a:solidFill>
                  <a:srgbClr val="222222"/>
                </a:solidFill>
                <a:latin typeface="Times New Roman"/>
              </a:rPr>
              <a:t>Same ID_D across sessions → movement &amp; behaviour profiled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928616"/>
            <a:ext cx="5532120" cy="676656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35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Linkability:  </a:t>
            </a:r>
            <a:r>
              <a:rPr sz="1300">
                <a:solidFill>
                  <a:srgbClr val="222222"/>
                </a:solidFill>
                <a:latin typeface="Times New Roman"/>
              </a:rPr>
              <a:t>Attacker links all messages from the same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696712"/>
            <a:ext cx="5532120" cy="676656"/>
          </a:xfrm>
          <a:prstGeom prst="rect">
            <a:avLst/>
          </a:prstGeom>
          <a:solidFill>
            <a:srgbClr val="FFEBEE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35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Targeted Attacks:  </a:t>
            </a:r>
            <a:r>
              <a:rPr sz="1300">
                <a:solidFill>
                  <a:srgbClr val="222222"/>
                </a:solidFill>
                <a:latin typeface="Times New Roman"/>
              </a:rPr>
              <a:t>Known identity enables impersonation &amp; selective jamming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868680"/>
            <a:ext cx="5623560" cy="557784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868680"/>
            <a:ext cx="562356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932688"/>
            <a:ext cx="5486400" cy="4114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Our Solution: Pseudonym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5166360" cy="5486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Instead of sending ID_D, the device sends a rotating pseudonym: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103120"/>
            <a:ext cx="461772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000" b="1" i="0">
                <a:solidFill>
                  <a:srgbClr val="1B5E20"/>
                </a:solidFill>
                <a:latin typeface="Times New Roman"/>
              </a:rPr>
              <a:t>PID = H( ID_D || m_curr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5074920" cy="5029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✓  Real identity ID_D never appears on the channel.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84448"/>
            <a:ext cx="5074920" cy="5029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✓  PID refreshes after every successful key exchange.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51376"/>
            <a:ext cx="5074920" cy="5029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✓  Each session looks unlinkable to an eavesdropper.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18304"/>
            <a:ext cx="5074920" cy="5029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✓  Dual-state recovery handles lost update packets.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650992"/>
            <a:ext cx="5074920" cy="6400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Times New Roman"/>
              </a:rPr>
              <a:t>Result: anonymity at near-zero extra cost on constrained nodes.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-548640"/>
            <a:ext cx="1554480" cy="1554480"/>
          </a:xfrm>
          <a:prstGeom prst="ellipse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900000">
            <a:off x="2651760" y="182880"/>
            <a:ext cx="2011680" cy="1554480"/>
          </a:xfrm>
          <a:prstGeom prst="triangle">
            <a:avLst/>
          </a:prstGeom>
          <a:noFill/>
          <a:ln w="508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02920" cy="1188720"/>
          </a:xfrm>
          <a:prstGeom prst="ellipse">
            <a:avLst/>
          </a:prstGeom>
          <a:noFill/>
          <a:ln w="63500">
            <a:solidFill>
              <a:srgbClr val="29A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 rot="5400000">
            <a:off x="1554480" y="2194560"/>
            <a:ext cx="1737360" cy="1737360"/>
          </a:xfrm>
          <a:prstGeom prst="blockArc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840480" y="2331720"/>
            <a:ext cx="868680" cy="868680"/>
          </a:xfrm>
          <a:prstGeom prst="donu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4206240"/>
            <a:ext cx="1143000" cy="1417320"/>
          </a:xfrm>
          <a:prstGeom prst="rect">
            <a:avLst/>
          </a:prstGeom>
          <a:noFill/>
          <a:ln w="635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4754880"/>
            <a:ext cx="2560320" cy="256032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2103120" y="3749039"/>
            <a:ext cx="1554480" cy="1371600"/>
          </a:xfrm>
          <a:prstGeom prst="arc">
            <a:avLst/>
          </a:prstGeom>
          <a:noFill/>
          <a:ln w="63500">
            <a:solidFill>
              <a:srgbClr val="29A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103120"/>
            <a:ext cx="58521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228600"/>
          <a:lstStyle/>
          <a:p>
            <a:pPr algn="l"/>
            <a:r>
              <a:rPr sz="4000" b="0" i="0">
                <a:solidFill>
                  <a:srgbClr val="000000"/>
                </a:solidFill>
                <a:latin typeface="Times New Roman"/>
              </a:rPr>
              <a:t>PROPOSED
SCHEME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System Model and Threat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804672"/>
            <a:ext cx="5669280" cy="47548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850392"/>
            <a:ext cx="566928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System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417320"/>
            <a:ext cx="56692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417320"/>
            <a:ext cx="237744" cy="96012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481328"/>
            <a:ext cx="5212080" cy="329184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600" b="1" i="0">
                <a:solidFill>
                  <a:srgbClr val="E07B54"/>
                </a:solidFill>
                <a:latin typeface="Times New Roman"/>
              </a:rPr>
              <a:t>Device (D)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28800"/>
            <a:ext cx="5212080" cy="512064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Resource-constrained IoT node. Holds a PUF; never stores long-term keys.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468880"/>
            <a:ext cx="5669280" cy="960120"/>
          </a:xfrm>
          <a:prstGeom prst="rect">
            <a:avLst/>
          </a:prstGeom>
          <a:solidFill>
            <a:srgbClr val="B9FFFF"/>
          </a:solidFill>
          <a:ln w="15240">
            <a:solidFill>
              <a:srgbClr val="006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468880"/>
            <a:ext cx="237744" cy="960120"/>
          </a:xfrm>
          <a:prstGeom prst="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532888"/>
            <a:ext cx="5212080" cy="329184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600" b="1" i="0">
                <a:solidFill>
                  <a:srgbClr val="00696C"/>
                </a:solidFill>
                <a:latin typeface="Times New Roman"/>
              </a:rPr>
              <a:t>Gateway (GW)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880360"/>
            <a:ext cx="5212080" cy="512064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Border router. Selects an Authentication Server and relays multihop traffic.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3520440"/>
            <a:ext cx="5669280" cy="960120"/>
          </a:xfrm>
          <a:prstGeom prst="rect">
            <a:avLst/>
          </a:prstGeom>
          <a:solidFill>
            <a:srgbClr val="D4FFD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3520440"/>
            <a:ext cx="237744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3584448"/>
            <a:ext cx="5212080" cy="329184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Times New Roman"/>
              </a:rPr>
              <a:t>Auth Server (AS)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931920"/>
            <a:ext cx="5212080" cy="512064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Any capable node chosen by GW (decoupled). Verifies device, never learns ID_D.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4617720"/>
            <a:ext cx="5669280" cy="1417320"/>
          </a:xfrm>
          <a:prstGeom prst="rect">
            <a:avLst/>
          </a:prstGeom>
          <a:solidFill>
            <a:srgbClr val="E8F5E8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663440"/>
            <a:ext cx="5669280" cy="310896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Times New Roman"/>
              </a:rPr>
              <a:t>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010912"/>
            <a:ext cx="5349240" cy="29260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 Device enrolls once with AS via a secure channel.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5321808"/>
            <a:ext cx="5349240" cy="29260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 PUF is unclonable and noise-tolerant.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5632704"/>
            <a:ext cx="5349240" cy="29260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•  GW is honest-but-curious (must not learn ID_D or SK).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804672"/>
            <a:ext cx="5669280" cy="4754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850392"/>
            <a:ext cx="566928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Threat Model  (Dolev–Yao Adversary)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669280" cy="749808"/>
          </a:xfrm>
          <a:prstGeom prst="rect">
            <a:avLst/>
          </a:prstGeom>
          <a:solidFill>
            <a:srgbClr val="FFEBEE"/>
          </a:solidFill>
          <a:ln w="1143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⚠  </a:t>
            </a:r>
            <a:r>
              <a:rPr sz="1400">
                <a:solidFill>
                  <a:srgbClr val="222222"/>
                </a:solidFill>
                <a:latin typeface="Times New Roman"/>
              </a:rPr>
              <a:t>Full control of the open channel: intercept, inject, replay, modify, drop packets.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240280"/>
            <a:ext cx="5669280" cy="749808"/>
          </a:xfrm>
          <a:prstGeom prst="rect">
            <a:avLst/>
          </a:prstGeom>
          <a:solidFill>
            <a:srgbClr val="FFEBEE"/>
          </a:solidFill>
          <a:ln w="1143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⚠  </a:t>
            </a:r>
            <a:r>
              <a:rPr sz="1400">
                <a:solidFill>
                  <a:srgbClr val="222222"/>
                </a:solidFill>
                <a:latin typeface="Times New Roman"/>
              </a:rPr>
              <a:t>May capture and analyse all transmitted messages (eavesdropping).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063240"/>
            <a:ext cx="5669280" cy="749808"/>
          </a:xfrm>
          <a:prstGeom prst="rect">
            <a:avLst/>
          </a:prstGeom>
          <a:solidFill>
            <a:srgbClr val="FFEBEE"/>
          </a:solidFill>
          <a:ln w="1143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⚠  </a:t>
            </a:r>
            <a:r>
              <a:rPr sz="1400">
                <a:solidFill>
                  <a:srgbClr val="222222"/>
                </a:solidFill>
                <a:latin typeface="Times New Roman"/>
              </a:rPr>
              <a:t>May attempt impersonation of D, GW, or 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86200"/>
            <a:ext cx="5669280" cy="749808"/>
          </a:xfrm>
          <a:prstGeom prst="rect">
            <a:avLst/>
          </a:prstGeom>
          <a:solidFill>
            <a:srgbClr val="FFEBEE"/>
          </a:solidFill>
          <a:ln w="1143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⚠  </a:t>
            </a:r>
            <a:r>
              <a:rPr sz="1400">
                <a:solidFill>
                  <a:srgbClr val="222222"/>
                </a:solidFill>
                <a:latin typeface="Times New Roman"/>
              </a:rPr>
              <a:t>Cannot break cryptographic primitives (hash, PUF) or read secure enrollment.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709160"/>
            <a:ext cx="5669280" cy="749808"/>
          </a:xfrm>
          <a:prstGeom prst="rect">
            <a:avLst/>
          </a:prstGeom>
          <a:solidFill>
            <a:srgbClr val="FFEBEE"/>
          </a:solidFill>
          <a:ln w="1143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CC0000"/>
                </a:solidFill>
                <a:latin typeface="Times New Roman"/>
              </a:rPr>
              <a:t>⚠  </a:t>
            </a:r>
            <a:r>
              <a:rPr sz="1400">
                <a:solidFill>
                  <a:srgbClr val="222222"/>
                </a:solidFill>
                <a:latin typeface="Times New Roman"/>
              </a:rPr>
              <a:t>Cannot physically clone the PUF.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577840"/>
            <a:ext cx="5669280" cy="6583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641848"/>
            <a:ext cx="5394960" cy="53035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Goal: mutual authentication + session key + anonymity, secure under all the above.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Proposed Scheme: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2514600" cy="1508760"/>
          </a:xfrm>
          <a:prstGeom prst="rect">
            <a:avLst/>
          </a:prstGeom>
          <a:solidFill>
            <a:srgbClr val="D4FFD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2514600" cy="42062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96696"/>
            <a:ext cx="251460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2514600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Times New Roman"/>
              </a:rPr>
              <a:t>Enrollment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56232"/>
            <a:ext cx="2514600" cy="5486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One-time PUF
registration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44368" y="1714500"/>
            <a:ext cx="310896" cy="0"/>
          </a:xfrm>
          <a:prstGeom prst="line">
            <a:avLst/>
          </a:prstGeom>
          <a:ln w="31750">
            <a:solidFill>
              <a:srgbClr val="2C5F2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73552" y="960120"/>
            <a:ext cx="2514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3552" y="960120"/>
            <a:ext cx="2514600" cy="420624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996696"/>
            <a:ext cx="251460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1463040"/>
            <a:ext cx="2514600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7EB3D8"/>
                </a:solidFill>
                <a:latin typeface="Times New Roman"/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856232"/>
            <a:ext cx="2514600" cy="5486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Mutual proof via
PID + tokens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1714500"/>
            <a:ext cx="310896" cy="0"/>
          </a:xfrm>
          <a:prstGeom prst="line">
            <a:avLst/>
          </a:prstGeom>
          <a:ln w="31750">
            <a:solidFill>
              <a:srgbClr val="2C5F2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135624" y="960120"/>
            <a:ext cx="2514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5624" y="960120"/>
            <a:ext cx="2514600" cy="420624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996696"/>
            <a:ext cx="251460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1463040"/>
            <a:ext cx="2514600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E07B54"/>
                </a:solidFill>
                <a:latin typeface="Times New Roman"/>
              </a:rPr>
              <a:t>Key Exchange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856232"/>
            <a:ext cx="2514600" cy="5486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Establish SK +
rotate PID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68512" y="1714500"/>
            <a:ext cx="310896" cy="0"/>
          </a:xfrm>
          <a:prstGeom prst="line">
            <a:avLst/>
          </a:prstGeom>
          <a:ln w="31750">
            <a:solidFill>
              <a:srgbClr val="2C5F2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997696" y="960120"/>
            <a:ext cx="2514600" cy="1508760"/>
          </a:xfrm>
          <a:prstGeom prst="rect">
            <a:avLst/>
          </a:prstGeom>
          <a:solidFill>
            <a:srgbClr val="FFFFE6"/>
          </a:solidFill>
          <a:ln w="19050">
            <a:solidFill>
              <a:srgbClr val="7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960120"/>
            <a:ext cx="2514600" cy="420624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996696"/>
            <a:ext cx="251460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1463040"/>
            <a:ext cx="2514600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600" b="1" i="0">
                <a:solidFill>
                  <a:srgbClr val="7B8B2D"/>
                </a:solidFill>
                <a:latin typeface="Times New Roman"/>
              </a:rPr>
              <a:t>Data Comm.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1856232"/>
            <a:ext cx="2514600" cy="5486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Times New Roman"/>
              </a:rPr>
              <a:t>Encrypted data
over 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578608"/>
            <a:ext cx="113385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Times New Roman"/>
              </a:rPr>
              <a:t>Four-phase structure, PUF-based derivation, decoupled AS and hash accumulator are retained from DAuth. Our novelty is in Phases 2–3: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3456432"/>
            <a:ext cx="3730752" cy="2926080"/>
          </a:xfrm>
          <a:prstGeom prst="rect">
            <a:avLst/>
          </a:prstGeom>
          <a:solidFill>
            <a:srgbClr val="FFBEBE"/>
          </a:solidFill>
          <a:ln w="2286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55648" y="3090672"/>
            <a:ext cx="731520" cy="731520"/>
          </a:xfrm>
          <a:prstGeom prst="ellipse">
            <a:avLst/>
          </a:prstGeom>
          <a:solidFill>
            <a:srgbClr val="CC0000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3959352"/>
            <a:ext cx="3547872" cy="7772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900" b="1" i="0">
                <a:solidFill>
                  <a:srgbClr val="CC0000"/>
                </a:solidFill>
                <a:latin typeface="Times New Roman"/>
              </a:rPr>
              <a:t>Pseudonym Rotation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4782312"/>
            <a:ext cx="3273552" cy="1600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Real identity ID_D never sent. A rotating PID = H(ID_D || m_curr) is used and refreshed after each key exchange. GW never learns ID_D → full anonymity.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1376" y="3456432"/>
            <a:ext cx="3730752" cy="2926080"/>
          </a:xfrm>
          <a:prstGeom prst="rect">
            <a:avLst/>
          </a:prstGeom>
          <a:solidFill>
            <a:srgbClr val="FFFFFF"/>
          </a:solidFill>
          <a:ln w="22860">
            <a:solidFill>
              <a:srgbClr val="7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50992" y="3090672"/>
            <a:ext cx="731520" cy="731520"/>
          </a:xfrm>
          <a:prstGeom prst="ellipse">
            <a:avLst/>
          </a:prstGeom>
          <a:solidFill>
            <a:srgbClr val="7E5BA6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2816" y="3959352"/>
            <a:ext cx="3547872" cy="7772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900" b="1" i="0">
                <a:solidFill>
                  <a:srgbClr val="7E5BA6"/>
                </a:solidFill>
                <a:latin typeface="Times New Roman"/>
              </a:rPr>
              <a:t>Dual-State Desync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9976" y="4782312"/>
            <a:ext cx="3273552" cy="1600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AS and GW store (m_curr, m_old, PID_curr, PID_old). A device arriving with PID_old after a lost packet is still recognised and re-synchronised — no re-enrollment.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456432"/>
            <a:ext cx="3730752" cy="2926080"/>
          </a:xfrm>
          <a:prstGeom prst="rect">
            <a:avLst/>
          </a:prstGeom>
          <a:solidFill>
            <a:srgbClr val="D9FFDE"/>
          </a:solidFill>
          <a:ln w="228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46336" y="3090672"/>
            <a:ext cx="731520" cy="731520"/>
          </a:xfrm>
          <a:prstGeom prst="ellipse">
            <a:avLst/>
          </a:prstGeom>
          <a:solidFill>
            <a:srgbClr val="1B5E20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959352"/>
            <a:ext cx="3547872" cy="7772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900" b="1" i="0">
                <a:solidFill>
                  <a:srgbClr val="1B5E20"/>
                </a:solidFill>
                <a:latin typeface="Times New Roman"/>
              </a:rPr>
              <a:t>Lightweight by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782312"/>
            <a:ext cx="3273552" cy="160020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Hash-only operations on the device. COOJA: 42.8% lower per-device energy than LAAKA and 32.4% than Zhou — lowest overhead among all four schemes.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400" b="0" i="0">
                <a:solidFill>
                  <a:srgbClr val="FFFFFF"/>
                </a:solidFill>
                <a:latin typeface="Times New Roman"/>
              </a:rPr>
              <a:t>Phase 1: Enrollment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21031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PHASE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1B5E20"/>
                </a:solidFill>
                <a:latin typeface="Times New Roman"/>
              </a:rPr>
              <a:t>One-time secure registration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Device D registers with AS over a secure channel — performed once at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46304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51460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1B5E20"/>
                </a:solidFill>
                <a:latin typeface="Times New Roman"/>
              </a:rPr>
              <a:t>PUF challenge–response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AS issues challenge c_D; device returns R_D = PUF(c_D). R_D is never stored.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14600"/>
            <a:ext cx="146304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1B5E20"/>
                </a:solidFill>
                <a:latin typeface="Times New Roman"/>
              </a:rPr>
              <a:t>Hash accumulator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AS stores group-membership accumulator and dual-state (m_curr, PID_curr) — not ID_D or R_D.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474720"/>
            <a:ext cx="146304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443484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1B5E20"/>
                </a:solidFill>
                <a:latin typeface="Times New Roman"/>
              </a:rPr>
              <a:t>Initial pseudonym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First pseudonym PID = H(ID_D || m_curr) is computed and registered.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34840"/>
            <a:ext cx="146304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413248"/>
            <a:ext cx="598932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6200"/>
          <a:lstStyle/>
          <a:p>
            <a:pPr algn="ctr"/>
            <a:r>
              <a:rPr sz="1400" b="1">
                <a:solidFill>
                  <a:srgbClr val="1B5E20"/>
                </a:solidFill>
                <a:latin typeface="Times New Roman"/>
              </a:rPr>
              <a:t>Key point:  </a:t>
            </a:r>
            <a:r>
              <a:rPr sz="1350">
                <a:solidFill>
                  <a:srgbClr val="222222"/>
                </a:solidFill>
                <a:latin typeface="Times New Roman"/>
              </a:rPr>
              <a:t>No long-term secret is stored on the device — PUF regenerates R_D on demand.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841248"/>
            <a:ext cx="5532120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500" b="1" i="0">
                <a:solidFill>
                  <a:srgbClr val="2C5F2D"/>
                </a:solidFill>
                <a:latin typeface="Times New Roman"/>
              </a:rPr>
              <a:t>Enrollment Phase</a:t>
            </a:r>
          </a:p>
        </p:txBody>
      </p:sp>
      <p:pic>
        <p:nvPicPr>
          <p:cNvPr id="14" name="Picture 13" descr="fig_enroll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34440"/>
            <a:ext cx="4617720" cy="5440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400" b="0" i="0">
                <a:solidFill>
                  <a:srgbClr val="FFFFFF"/>
                </a:solidFill>
                <a:latin typeface="Times New Roman"/>
              </a:rPr>
              <a:t>Phase 2: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2103120" cy="502920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PHASE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7EB3D8"/>
                </a:solidFill>
                <a:latin typeface="Times New Roman"/>
              </a:rPr>
              <a:t>Device sends pseudonym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D transmits PID (not ID_D) plus a fresh nonce and timestamp ts_2 — anonymous on the channel.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46304" cy="868680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51460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7EB3D8"/>
                </a:solidFill>
                <a:latin typeface="Times New Roman"/>
              </a:rPr>
              <a:t>GW selects an AS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Gateway picks any capable node as Authentication Server (decoupled) and relays the request.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14600"/>
            <a:ext cx="146304" cy="868680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7EB3D8"/>
                </a:solidFill>
                <a:latin typeface="Times New Roman"/>
              </a:rPr>
              <a:t>Dual-state lookup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AS matches PID against PID_curr / PID_old — recovering identity context without ID_D exposure.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474720"/>
            <a:ext cx="146304" cy="868680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443484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7EB3D8"/>
                </a:solidFill>
                <a:latin typeface="Times New Roman"/>
              </a:rPr>
              <a:t>Mutual challenge–response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Two-round PUF-derived token exchange authenticates D and AS to each 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34840"/>
            <a:ext cx="146304" cy="868680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413248"/>
            <a:ext cx="598932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6200"/>
          <a:lstStyle/>
          <a:p>
            <a:pPr algn="ctr"/>
            <a:r>
              <a:rPr sz="1400" b="1">
                <a:solidFill>
                  <a:srgbClr val="1B5E20"/>
                </a:solidFill>
                <a:latin typeface="Times New Roman"/>
              </a:rPr>
              <a:t>Key point:  </a:t>
            </a:r>
            <a:r>
              <a:rPr sz="1350">
                <a:solidFill>
                  <a:srgbClr val="222222"/>
                </a:solidFill>
                <a:latin typeface="Times New Roman"/>
              </a:rPr>
              <a:t>PID + fresh nonce per session → replay and linkability attacks both fail.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841248"/>
            <a:ext cx="5532120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500" b="1" i="0">
                <a:solidFill>
                  <a:srgbClr val="2C5F2D"/>
                </a:solidFill>
                <a:latin typeface="Times New Roman"/>
              </a:rPr>
              <a:t>Authentication Phase</a:t>
            </a:r>
          </a:p>
        </p:txBody>
      </p:sp>
      <p:pic>
        <p:nvPicPr>
          <p:cNvPr id="14" name="Picture 13" descr="fig_au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34440"/>
            <a:ext cx="4617720" cy="5440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400" b="0" i="0">
                <a:solidFill>
                  <a:srgbClr val="FFFFFF"/>
                </a:solidFill>
                <a:latin typeface="Times New Roman"/>
              </a:rPr>
              <a:t>Phase 3: Key Exchange &amp; Pseudonym Rotation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2103120" cy="50292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PHASE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E07B54"/>
                </a:solidFill>
                <a:latin typeface="Times New Roman"/>
              </a:rPr>
              <a:t>Session key established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D and AS derive a shared session key SK. GW facilitates relay but never learns 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46304" cy="86868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51460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E07B54"/>
                </a:solidFill>
                <a:latin typeface="Times New Roman"/>
              </a:rPr>
              <a:t>Fresh nonce m_new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A new nonce m_new is agreed; it is not derivable from prior state (forward secrecy).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14600"/>
            <a:ext cx="146304" cy="86868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E07B54"/>
                </a:solidFill>
                <a:latin typeface="Times New Roman"/>
              </a:rPr>
              <a:t>Pseudonym refresh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PID is rotated: PID_new = H(ID_D || m_new). Old values shift into PID_old / m_old.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474720"/>
            <a:ext cx="146304" cy="86868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4434840"/>
            <a:ext cx="5989320" cy="868680"/>
          </a:xfrm>
          <a:prstGeom prst="rect">
            <a:avLst/>
          </a:prstGeom>
          <a:solidFill>
            <a:srgbClr val="FFFFFF"/>
          </a:solidFill>
          <a:ln w="1397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 rIns="109728"/>
          <a:lstStyle/>
          <a:p>
            <a:pPr algn="ctr"/>
            <a:r>
              <a:rPr sz="1500" b="1">
                <a:solidFill>
                  <a:srgbClr val="E07B54"/>
                </a:solidFill>
                <a:latin typeface="Times New Roman"/>
              </a:rPr>
              <a:t>Dual-state update  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Both AS and GW store (m_curr, m_old, PID_curr, PID_old) — enabling desync recovery.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34840"/>
            <a:ext cx="146304" cy="86868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413248"/>
            <a:ext cx="598932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6200"/>
          <a:lstStyle/>
          <a:p>
            <a:pPr algn="ctr"/>
            <a:r>
              <a:rPr sz="1400" b="1">
                <a:solidFill>
                  <a:srgbClr val="1B5E20"/>
                </a:solidFill>
                <a:latin typeface="Times New Roman"/>
              </a:rPr>
              <a:t>Key point:  </a:t>
            </a:r>
            <a:r>
              <a:rPr sz="1350">
                <a:solidFill>
                  <a:srgbClr val="222222"/>
                </a:solidFill>
                <a:latin typeface="Times New Roman"/>
              </a:rPr>
              <a:t>Rotating PID after every exchange keeps successive sessions unlinkable.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841248"/>
            <a:ext cx="5532120" cy="36576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500" b="1" i="0">
                <a:solidFill>
                  <a:srgbClr val="2C5F2D"/>
                </a:solidFill>
                <a:latin typeface="Times New Roman"/>
              </a:rPr>
              <a:t>Key Exchange Phase</a:t>
            </a:r>
          </a:p>
        </p:txBody>
      </p:sp>
      <p:pic>
        <p:nvPicPr>
          <p:cNvPr id="14" name="Picture 13" descr="fig_keye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34440"/>
            <a:ext cx="4617720" cy="5440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Phase 4: Data Communication &amp; Desync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822960"/>
            <a:ext cx="5623560" cy="475488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868680"/>
            <a:ext cx="56235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imes New Roman"/>
              </a:rPr>
              <a:t>Phase 4: Data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417320"/>
            <a:ext cx="5623560" cy="896112"/>
          </a:xfrm>
          <a:prstGeom prst="rect">
            <a:avLst/>
          </a:prstGeom>
          <a:solidFill>
            <a:srgbClr val="FFFFFF"/>
          </a:solidFill>
          <a:ln w="13970">
            <a:solidFill>
              <a:srgbClr val="7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/>
          <a:lstStyle/>
          <a:p>
            <a:pPr algn="ctr"/>
            <a:r>
              <a:rPr sz="1500" b="1">
                <a:solidFill>
                  <a:srgbClr val="7B8B2D"/>
                </a:solidFill>
                <a:latin typeface="Times New Roman"/>
              </a:rPr>
              <a:t>Encrypted payloads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All application data is encrypted under the session key SK established in Phase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417320"/>
            <a:ext cx="146304" cy="896112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2404872"/>
            <a:ext cx="5623560" cy="896112"/>
          </a:xfrm>
          <a:prstGeom prst="rect">
            <a:avLst/>
          </a:prstGeom>
          <a:solidFill>
            <a:srgbClr val="FFFFFF"/>
          </a:solidFill>
          <a:ln w="13970">
            <a:solidFill>
              <a:srgbClr val="7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/>
          <a:lstStyle/>
          <a:p>
            <a:pPr algn="ctr"/>
            <a:r>
              <a:rPr sz="1500" b="1">
                <a:solidFill>
                  <a:srgbClr val="7B8B2D"/>
                </a:solidFill>
                <a:latin typeface="Times New Roman"/>
              </a:rPr>
              <a:t>AS verifies authenticity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Each message carries a keyed tag; AS confirms integrity and freshness.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2404872"/>
            <a:ext cx="146304" cy="896112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3392424"/>
            <a:ext cx="5623560" cy="896112"/>
          </a:xfrm>
          <a:prstGeom prst="rect">
            <a:avLst/>
          </a:prstGeom>
          <a:solidFill>
            <a:srgbClr val="FFFFFF"/>
          </a:solidFill>
          <a:ln w="13970">
            <a:solidFill>
              <a:srgbClr val="7B8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76200"/>
          <a:lstStyle/>
          <a:p>
            <a:pPr algn="ctr"/>
            <a:r>
              <a:rPr sz="1500" b="1">
                <a:solidFill>
                  <a:srgbClr val="7B8B2D"/>
                </a:solidFill>
                <a:latin typeface="Times New Roman"/>
              </a:rPr>
              <a:t>GW as pure relay</a:t>
            </a:r>
          </a:p>
          <a:p>
            <a:r>
              <a:rPr sz="1350">
                <a:solidFill>
                  <a:srgbClr val="222222"/>
                </a:solidFill>
                <a:latin typeface="Times New Roman"/>
              </a:rPr>
              <a:t>Gateway forwards ciphertext across hops without learning SK or ID_D.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392424"/>
            <a:ext cx="146304" cy="896112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822960"/>
            <a:ext cx="5760720" cy="475488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868680"/>
            <a:ext cx="576072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imes New Roman"/>
              </a:rPr>
              <a:t>Desynchronisation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760720" cy="932688"/>
          </a:xfrm>
          <a:prstGeom prst="rect">
            <a:avLst/>
          </a:prstGeom>
          <a:solidFill>
            <a:srgbClr val="DEFFE3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0" y="1664208"/>
            <a:ext cx="438912" cy="43891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1490472"/>
            <a:ext cx="493776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  <a:latin typeface="Times New Roman"/>
              </a:rPr>
              <a:t>Normal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1837944"/>
            <a:ext cx="4892040" cy="47548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D updates to PID_new; AS’s PID_curr matches → authenticated instantly.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441448"/>
            <a:ext cx="5760720" cy="932688"/>
          </a:xfrm>
          <a:prstGeom prst="rect">
            <a:avLst/>
          </a:prstGeom>
          <a:solidFill>
            <a:srgbClr val="FFC3C3"/>
          </a:solidFill>
          <a:ln w="1524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0" y="2688336"/>
            <a:ext cx="438912" cy="438912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2514600"/>
            <a:ext cx="493776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CC0000"/>
                </a:solidFill>
                <a:latin typeface="Times New Roman"/>
              </a:rPr>
              <a:t>Packet lost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2862072"/>
            <a:ext cx="4892040" cy="47548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D never received the Phase-3 update → still holds PID_old.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465576"/>
            <a:ext cx="576072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7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0" y="3712464"/>
            <a:ext cx="438912" cy="438912"/>
          </a:xfrm>
          <a:prstGeom prst="ellipse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3538728"/>
            <a:ext cx="493776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7E5BA6"/>
                </a:solidFill>
                <a:latin typeface="Times New Roman"/>
              </a:rPr>
              <a:t>Dual-state rescue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886200"/>
            <a:ext cx="4892040" cy="47548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AS also stored PID_old. It matches D’s stale PID → recognises the device.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489704"/>
            <a:ext cx="5760720" cy="932688"/>
          </a:xfrm>
          <a:prstGeom prst="rect">
            <a:avLst/>
          </a:prstGeom>
          <a:solidFill>
            <a:srgbClr val="DEFFE3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9360" y="4736592"/>
            <a:ext cx="438912" cy="43891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4562856"/>
            <a:ext cx="493776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  <a:latin typeface="Times New Roman"/>
              </a:rPr>
              <a:t>Re-synchronised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4910328"/>
            <a:ext cx="4892040" cy="47548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AS re-issues the update; state converges. No re-enrollment, minimal overhead.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-548640"/>
            <a:ext cx="1554480" cy="1554480"/>
          </a:xfrm>
          <a:prstGeom prst="ellipse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900000">
            <a:off x="2651760" y="182880"/>
            <a:ext cx="2011680" cy="1554480"/>
          </a:xfrm>
          <a:prstGeom prst="triangle">
            <a:avLst/>
          </a:prstGeom>
          <a:noFill/>
          <a:ln w="508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02920" cy="1188720"/>
          </a:xfrm>
          <a:prstGeom prst="ellipse">
            <a:avLst/>
          </a:prstGeom>
          <a:noFill/>
          <a:ln w="63500">
            <a:solidFill>
              <a:srgbClr val="29A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 rot="5400000">
            <a:off x="1554480" y="2194560"/>
            <a:ext cx="1737360" cy="1737360"/>
          </a:xfrm>
          <a:prstGeom prst="blockArc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840480" y="2331720"/>
            <a:ext cx="868680" cy="868680"/>
          </a:xfrm>
          <a:prstGeom prst="donu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4206240"/>
            <a:ext cx="1143000" cy="1417320"/>
          </a:xfrm>
          <a:prstGeom prst="rect">
            <a:avLst/>
          </a:prstGeom>
          <a:noFill/>
          <a:ln w="635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4754880"/>
            <a:ext cx="2560320" cy="256032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2103120" y="3749039"/>
            <a:ext cx="1554480" cy="1371600"/>
          </a:xfrm>
          <a:prstGeom prst="arc">
            <a:avLst/>
          </a:prstGeom>
          <a:noFill/>
          <a:ln w="63500">
            <a:solidFill>
              <a:srgbClr val="29A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103120"/>
            <a:ext cx="58521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228600"/>
          <a:lstStyle/>
          <a:p>
            <a:pPr algn="l"/>
            <a:r>
              <a:rPr sz="4000" b="0" i="0">
                <a:solidFill>
                  <a:srgbClr val="000000"/>
                </a:solidFill>
                <a:latin typeface="Times New Roman"/>
              </a:rPr>
              <a:t>SECURITY
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Security Properties and Attack Resistance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6032" y="768096"/>
          <a:ext cx="116586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8412480"/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Attack / Property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How the Proposed Scheme Defends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Replay Attack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Fresh nonce + timestamp ts_2 in every session; stale messages rejected by freshness check.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Man-in-the-Middle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Mutual two-round challenge–response binds both parties; relayed/altered messages fail token check.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Impersonation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Authentication tokens are PUF-derived; attacker cannot forge R_D without the physical device.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Eavesdropping /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Only the rotating pseudonym PID travels on the channel — real ID_D never exposed → unlinkable.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Desynchronisation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Dual-state (PID_curr, PID_old) at AS and GW recovers a device that missed an update packet.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Offline Guessing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No verifiable password/identity on the channel; hash one-wayness blocks dictionary attacks.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Physical Capture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No long-term secret stored; PUF response R_D regenerated on demand and never persisted.</a:t>
                      </a:r>
                    </a:p>
                  </a:txBody>
                  <a:tcPr>
                    <a:solidFill>
                      <a:srgbClr val="E8F5E8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C5F2D"/>
                          </a:solidFill>
                          <a:latin typeface="Times New Roman"/>
                        </a:rPr>
                        <a:t>Forward Secrecy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5E20"/>
                          </a:solidFill>
                          <a:latin typeface="Times New Roman"/>
                        </a:rPr>
                        <a:t>✓  </a:t>
                      </a:r>
                      <a:r>
                        <a:rPr sz="1350">
                          <a:solidFill>
                            <a:srgbClr val="222222"/>
                          </a:solidFill>
                          <a:latin typeface="Times New Roman"/>
                        </a:rPr>
                        <a:t>New nonce m_new not derivable from prior state; past sessions stay secure if current state leaks.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Formal Verification: ProVerif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822960"/>
            <a:ext cx="649224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914400"/>
            <a:ext cx="6492240" cy="47548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✓  All 19 queries verified  —  result: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1536192"/>
            <a:ext cx="6492240" cy="329184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Times New Roman"/>
              </a:rPr>
              <a:t>Dolev–Yao adversary model  •  ProVerif 2.x</a:t>
            </a:r>
          </a:p>
        </p:txBody>
      </p:sp>
      <p:pic>
        <p:nvPicPr>
          <p:cNvPr id="6" name="Picture 5" descr="fig_prover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965960"/>
            <a:ext cx="6492240" cy="26717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" y="4683383"/>
            <a:ext cx="6492240" cy="3200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Times New Roman"/>
              </a:rPr>
              <a:t>ProVerif verification output (excerpt)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841248"/>
            <a:ext cx="498348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Times New Roman"/>
              </a:rPr>
              <a:t>Verified Properties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0" y="1298448"/>
            <a:ext cx="4983480" cy="0"/>
          </a:xfrm>
          <a:prstGeom prst="line">
            <a:avLst/>
          </a:prstGeom>
          <a:ln w="19050">
            <a:solidFill>
              <a:srgbClr val="2C5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49440" y="1463040"/>
            <a:ext cx="4983480" cy="914400"/>
          </a:xfrm>
          <a:prstGeom prst="rect">
            <a:avLst/>
          </a:prstGeom>
          <a:solidFill>
            <a:srgbClr val="D9FFDE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1463040"/>
            <a:ext cx="146304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527048"/>
            <a:ext cx="461772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  <a:latin typeface="Times New Roman"/>
              </a:rPr>
              <a:t>Q1–Q9 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65376"/>
            <a:ext cx="4572000" cy="493776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Enrollment &amp; two-round auth correspondence; cross-round binding; token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441448"/>
            <a:ext cx="49834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7EB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441448"/>
            <a:ext cx="146304" cy="914400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505456"/>
            <a:ext cx="461772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7EB3D8"/>
                </a:solidFill>
                <a:latin typeface="Times New Roman"/>
              </a:rPr>
              <a:t>Q10–Q12  Session Key Secrecy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843784"/>
            <a:ext cx="4572000" cy="493776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SK remains secret from all three viewpoints — Device, AS, and Gateway.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419856"/>
            <a:ext cx="49834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3419856"/>
            <a:ext cx="146304" cy="91440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483864"/>
            <a:ext cx="461772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E07B54"/>
                </a:solidFill>
                <a:latin typeface="Times New Roman"/>
              </a:rPr>
              <a:t>Q13  Forward Secrecy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22192"/>
            <a:ext cx="4572000" cy="493776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New nonce m_new is not derivable from old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398264"/>
            <a:ext cx="49834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7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4398264"/>
            <a:ext cx="146304" cy="914400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462272"/>
            <a:ext cx="461772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7E5BA6"/>
                </a:solidFill>
                <a:latin typeface="Times New Roman"/>
              </a:rPr>
              <a:t>Q14–Q16  Confidentiality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800600"/>
            <a:ext cx="4572000" cy="493776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PUF response R_D, real identity ID_D, and timestamp ts_2 stay secret.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5376672"/>
            <a:ext cx="4983480" cy="914400"/>
          </a:xfrm>
          <a:prstGeom prst="rect">
            <a:avLst/>
          </a:prstGeom>
          <a:solidFill>
            <a:srgbClr val="BEFFFF"/>
          </a:solidFill>
          <a:ln w="13970">
            <a:solidFill>
              <a:srgbClr val="006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5376672"/>
            <a:ext cx="146304" cy="914400"/>
          </a:xfrm>
          <a:prstGeom prst="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5440680"/>
            <a:ext cx="4617720" cy="34747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1" i="0">
                <a:solidFill>
                  <a:srgbClr val="00696C"/>
                </a:solidFill>
                <a:latin typeface="Times New Roman"/>
              </a:rPr>
              <a:t>Q17–Q19  Weak Secrecy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779008"/>
            <a:ext cx="4572000" cy="493776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Times New Roman"/>
              </a:rPr>
              <a:t>Resistance to offline dictionary / guessing attacks.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-548640"/>
            <a:ext cx="1554480" cy="1554480"/>
          </a:xfrm>
          <a:prstGeom prst="ellipse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900000">
            <a:off x="2651760" y="182880"/>
            <a:ext cx="2011680" cy="1554480"/>
          </a:xfrm>
          <a:prstGeom prst="triangle">
            <a:avLst/>
          </a:prstGeom>
          <a:noFill/>
          <a:ln w="508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02920" cy="1188720"/>
          </a:xfrm>
          <a:prstGeom prst="ellipse">
            <a:avLst/>
          </a:prstGeom>
          <a:noFill/>
          <a:ln w="63500">
            <a:solidFill>
              <a:srgbClr val="29A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 rot="5400000">
            <a:off x="1554480" y="2194560"/>
            <a:ext cx="1737360" cy="1737360"/>
          </a:xfrm>
          <a:prstGeom prst="blockArc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840480" y="2331720"/>
            <a:ext cx="868680" cy="868680"/>
          </a:xfrm>
          <a:prstGeom prst="donu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4206240"/>
            <a:ext cx="1143000" cy="1417320"/>
          </a:xfrm>
          <a:prstGeom prst="rect">
            <a:avLst/>
          </a:prstGeom>
          <a:noFill/>
          <a:ln w="635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4754880"/>
            <a:ext cx="2560320" cy="256032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2103120" y="3749039"/>
            <a:ext cx="1554480" cy="1371600"/>
          </a:xfrm>
          <a:prstGeom prst="arc">
            <a:avLst/>
          </a:prstGeom>
          <a:noFill/>
          <a:ln w="63500">
            <a:solidFill>
              <a:srgbClr val="29A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103120"/>
            <a:ext cx="58521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228600"/>
          <a:lstStyle/>
          <a:p>
            <a:pPr algn="l"/>
            <a:r>
              <a:rPr sz="4000" b="0" i="0">
                <a:solidFill>
                  <a:srgbClr val="000000"/>
                </a:solidFill>
                <a:latin typeface="Times New Roman"/>
              </a:rPr>
              <a:t>PERFORMANCE
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822960"/>
            <a:ext cx="5669280" cy="47548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868680"/>
            <a:ext cx="566928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imes New Roman"/>
              </a:rPr>
              <a:t>COOJA Network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417320"/>
            <a:ext cx="5669280" cy="475488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Simulator:  </a:t>
            </a:r>
            <a:r>
              <a:rPr sz="1400">
                <a:solidFill>
                  <a:srgbClr val="222222"/>
                </a:solidFill>
                <a:latin typeface="Times New Roman"/>
              </a:rPr>
              <a:t>Contiki-NG COOJA, emulated Tmote Sky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947672"/>
            <a:ext cx="5669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Network size:  </a:t>
            </a:r>
            <a:r>
              <a:rPr sz="1400">
                <a:solidFill>
                  <a:srgbClr val="222222"/>
                </a:solidFill>
                <a:latin typeface="Times New Roman"/>
              </a:rPr>
              <a:t>Up to 100 motes (also N = 30, 50, 80, 120)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2478024"/>
            <a:ext cx="5669280" cy="475488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Routing:  </a:t>
            </a:r>
            <a:r>
              <a:rPr sz="1400">
                <a:solidFill>
                  <a:srgbClr val="222222"/>
                </a:solidFill>
                <a:latin typeface="Times New Roman"/>
              </a:rPr>
              <a:t>RPL-Lite, multihop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3008376"/>
            <a:ext cx="5669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MAC / PHY:  </a:t>
            </a:r>
            <a:r>
              <a:rPr sz="1400">
                <a:solidFill>
                  <a:srgbClr val="222222"/>
                </a:solidFill>
                <a:latin typeface="Times New Roman"/>
              </a:rPr>
              <a:t>CSMA over IEEE 802.15.4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3538728"/>
            <a:ext cx="5669280" cy="475488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Seeds:  </a:t>
            </a:r>
            <a:r>
              <a:rPr sz="1400">
                <a:solidFill>
                  <a:srgbClr val="222222"/>
                </a:solidFill>
                <a:latin typeface="Times New Roman"/>
              </a:rPr>
              <a:t>10 random seeds, results averaged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4069080"/>
            <a:ext cx="5669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Metrics:  </a:t>
            </a:r>
            <a:r>
              <a:rPr sz="1400">
                <a:solidFill>
                  <a:srgbClr val="222222"/>
                </a:solidFill>
                <a:latin typeface="Times New Roman"/>
              </a:rPr>
              <a:t>Per-device energy (mJ) and CPU time (ms)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4599432"/>
            <a:ext cx="5669280" cy="475488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Schemes:  </a:t>
            </a:r>
            <a:r>
              <a:rPr sz="1400">
                <a:solidFill>
                  <a:srgbClr val="222222"/>
                </a:solidFill>
                <a:latin typeface="Times New Roman"/>
              </a:rPr>
              <a:t>Proposed, DAuth, LAAKA, Zhou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822960"/>
            <a:ext cx="5669280" cy="47548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868680"/>
            <a:ext cx="566928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imes New Roman"/>
              </a:rPr>
              <a:t>Raspberry Pi 4B Hardware Testbed</a:t>
            </a:r>
          </a:p>
        </p:txBody>
      </p:sp>
      <p:pic>
        <p:nvPicPr>
          <p:cNvPr id="14" name="Picture 13" descr="RPI_HW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17320"/>
            <a:ext cx="3017520" cy="28467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4300612"/>
            <a:ext cx="5669280" cy="310896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Times New Roman"/>
              </a:rPr>
              <a:t>Apex = Device,  Pi = AS,  Laptop =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675516"/>
            <a:ext cx="5669280" cy="512064"/>
          </a:xfrm>
          <a:prstGeom prst="rect">
            <a:avLst/>
          </a:prstGeom>
          <a:solidFill>
            <a:srgbClr val="E8F5E8"/>
          </a:solidFill>
          <a:ln w="762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3500"/>
          <a:lstStyle/>
          <a:p>
            <a:pPr algn="ctr"/>
            <a:r>
              <a:rPr sz="1400" b="1">
                <a:solidFill>
                  <a:srgbClr val="8B0000"/>
                </a:solidFill>
                <a:latin typeface="Times New Roman"/>
              </a:rPr>
              <a:t>Power model:  </a:t>
            </a:r>
            <a:r>
              <a:rPr sz="1350">
                <a:solidFill>
                  <a:srgbClr val="222222"/>
                </a:solidFill>
                <a:latin typeface="Times New Roman"/>
              </a:rPr>
              <a:t>Energy = wall-clock time × 3800 mW (measured)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5242444"/>
            <a:ext cx="5669280" cy="512064"/>
          </a:xfrm>
          <a:prstGeom prst="rect">
            <a:avLst/>
          </a:prstGeom>
          <a:solidFill>
            <a:srgbClr val="E8F5E8"/>
          </a:solidFill>
          <a:ln w="762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3500"/>
          <a:lstStyle/>
          <a:p>
            <a:pPr algn="ctr"/>
            <a:r>
              <a:rPr sz="1400" b="1">
                <a:solidFill>
                  <a:srgbClr val="8B0000"/>
                </a:solidFill>
                <a:latin typeface="Times New Roman"/>
              </a:rPr>
              <a:t>Procedure:  </a:t>
            </a:r>
            <a:r>
              <a:rPr sz="1350">
                <a:solidFill>
                  <a:srgbClr val="222222"/>
                </a:solidFill>
                <a:latin typeface="Times New Roman"/>
              </a:rPr>
              <a:t>3 runs per scheme; 1 warm-up round discarded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5809372"/>
            <a:ext cx="5669280" cy="512064"/>
          </a:xfrm>
          <a:prstGeom prst="rect">
            <a:avLst/>
          </a:prstGeom>
          <a:solidFill>
            <a:srgbClr val="E8F5E8"/>
          </a:solidFill>
          <a:ln w="762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63500"/>
          <a:lstStyle/>
          <a:p>
            <a:pPr algn="ctr"/>
            <a:r>
              <a:rPr sz="1400" b="1">
                <a:solidFill>
                  <a:srgbClr val="8B0000"/>
                </a:solidFill>
                <a:latin typeface="Times New Roman"/>
              </a:rPr>
              <a:t>Measured:  </a:t>
            </a:r>
            <a:r>
              <a:rPr sz="1350">
                <a:solidFill>
                  <a:srgbClr val="222222"/>
                </a:solidFill>
                <a:latin typeface="Times New Roman"/>
              </a:rPr>
              <a:t>Auth + Key-Exchange per round, and Enrollment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400" b="0" i="0">
                <a:solidFill>
                  <a:srgbClr val="FFFFFF"/>
                </a:solidFill>
                <a:latin typeface="Times New Roman"/>
              </a:rPr>
              <a:t>COOJA: Per-Device Mean Total Cost (100-mote)</a:t>
            </a:r>
          </a:p>
        </p:txBody>
      </p:sp>
      <p:pic>
        <p:nvPicPr>
          <p:cNvPr id="3" name="Picture 2" descr="fig_sim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72" y="841248"/>
            <a:ext cx="8074607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37175"/>
            <a:ext cx="11247120" cy="29260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Times New Roman"/>
              </a:rPr>
              <a:t>Per-device mean energy (left panel) and CPU time (right panel), four schemes.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184647"/>
            <a:ext cx="11457432" cy="1399033"/>
          </a:xfrm>
          <a:prstGeom prst="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91440"/>
          <a:lstStyle/>
          <a:p>
            <a:pPr algn="ctr">
              <a:spcBef>
                <a:spcPts val="300"/>
              </a:spcBef>
            </a:pPr>
            <a:r>
              <a:rPr sz="1500" b="1">
                <a:solidFill>
                  <a:srgbClr val="1B5E20"/>
                </a:solidFill>
                <a:latin typeface="Times New Roman"/>
              </a:rPr>
              <a:t>Proposed has the lowest overhead of any anonymity-preserving scheme.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222222"/>
                </a:solidFill>
                <a:latin typeface="Times New Roman"/>
              </a:rPr>
              <a:t>42.8% lower per-device energy and CPU time than LAAKA; 32.4% lower than Zhou.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222222"/>
                </a:solidFill>
                <a:latin typeface="Times New Roman"/>
              </a:rPr>
              <a:t>DAuth sits just below Proposed — the ~8% gap is the small price paid for PID anonymity.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222222"/>
                </a:solidFill>
                <a:latin typeface="Times New Roman"/>
              </a:rPr>
              <a:t>Averaged over 10 seeds on a 100-mote RPL-Lite / 802.15.4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400" b="0" i="0">
                <a:solidFill>
                  <a:srgbClr val="FFFFFF"/>
                </a:solidFill>
                <a:latin typeface="Times New Roman"/>
              </a:rPr>
              <a:t>COOJA: Effect of Active AS Count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4476" y="841248"/>
            <a:ext cx="0" cy="5833872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02920" y="896112"/>
            <a:ext cx="5074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500" b="1" i="0">
                <a:solidFill>
                  <a:srgbClr val="2C5F2D"/>
                </a:solidFill>
                <a:latin typeface="Times New Roman"/>
              </a:rPr>
              <a:t>Total Energy vs Active AS Count</a:t>
            </a:r>
          </a:p>
        </p:txBody>
      </p:sp>
      <p:pic>
        <p:nvPicPr>
          <p:cNvPr id="5" name="Picture 4" descr="fig_sim_as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577840" cy="3015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5080" y="896112"/>
            <a:ext cx="5074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500" b="1" i="0">
                <a:solidFill>
                  <a:srgbClr val="2C5F2D"/>
                </a:solidFill>
                <a:latin typeface="Times New Roman"/>
              </a:rPr>
              <a:t>Total CPU Time vs Active AS Count</a:t>
            </a:r>
          </a:p>
        </p:txBody>
      </p:sp>
      <p:pic>
        <p:nvPicPr>
          <p:cNvPr id="7" name="Picture 6" descr="fig_sim_as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577840" cy="30150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660968"/>
            <a:ext cx="5577840" cy="1922712"/>
          </a:xfrm>
          <a:prstGeom prst="rect">
            <a:avLst/>
          </a:prstGeom>
          <a:solidFill>
            <a:srgbClr val="E8F5E9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1B5E20"/>
                </a:solidFill>
                <a:latin typeface="Times New Roman"/>
              </a:rPr>
              <a:t>Energy scales gracefully as more nodes act as AS.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Decoupled AS spreads load — no single bottleneck.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Proposed stays below LAAKA and Zhou throughout.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4660968"/>
            <a:ext cx="5577840" cy="1922712"/>
          </a:xfrm>
          <a:prstGeom prst="rect">
            <a:avLst/>
          </a:prstGeom>
          <a:solidFill>
            <a:srgbClr val="E8F5E9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1B5E20"/>
                </a:solidFill>
                <a:latin typeface="Times New Roman"/>
              </a:rPr>
              <a:t>CPU time follows the same favourable trend.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Hash-only device operations keep cost flat.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DAuth and Proposed track closely, both lowest.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400" b="0" i="0">
                <a:solidFill>
                  <a:srgbClr val="FFFFFF"/>
                </a:solidFill>
                <a:latin typeface="Times New Roman"/>
              </a:rPr>
              <a:t>COOJA: Effect of Network Size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4476" y="841248"/>
            <a:ext cx="0" cy="5833872"/>
          </a:xfrm>
          <a:prstGeom prst="line">
            <a:avLst/>
          </a:prstGeom>
          <a:ln w="1524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02920" y="896112"/>
            <a:ext cx="5074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500" b="1" i="0">
                <a:solidFill>
                  <a:srgbClr val="2C5F2D"/>
                </a:solidFill>
                <a:latin typeface="Times New Roman"/>
              </a:rPr>
              <a:t>Total Energy vs Network Size</a:t>
            </a:r>
          </a:p>
        </p:txBody>
      </p:sp>
      <p:pic>
        <p:nvPicPr>
          <p:cNvPr id="5" name="Picture 4" descr="fig_sim_net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577840" cy="29357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5080" y="896112"/>
            <a:ext cx="5074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500" b="1" i="0">
                <a:solidFill>
                  <a:srgbClr val="2C5F2D"/>
                </a:solidFill>
                <a:latin typeface="Times New Roman"/>
              </a:rPr>
              <a:t>Total CPU Time vs Network Size</a:t>
            </a:r>
          </a:p>
        </p:txBody>
      </p:sp>
      <p:pic>
        <p:nvPicPr>
          <p:cNvPr id="7" name="Picture 6" descr="fig_sim_net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577840" cy="29357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581625"/>
            <a:ext cx="5577840" cy="2002055"/>
          </a:xfrm>
          <a:prstGeom prst="rect">
            <a:avLst/>
          </a:prstGeom>
          <a:solidFill>
            <a:srgbClr val="E8F5E9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1B5E20"/>
                </a:solidFill>
                <a:latin typeface="Times New Roman"/>
              </a:rPr>
              <a:t>Advantage holds as the network grows.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N = 30, 50, 80, 100, 120 with 20% newly-joined devices.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Gap over LAAKA / Zhou widens with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4581625"/>
            <a:ext cx="5577840" cy="2002055"/>
          </a:xfrm>
          <a:prstGeom prst="rect">
            <a:avLst/>
          </a:prstGeom>
          <a:solidFill>
            <a:srgbClr val="E8F5E9"/>
          </a:solidFill>
          <a:ln w="1397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Bef>
                <a:spcPts val="200"/>
              </a:spcBef>
            </a:pPr>
            <a:r>
              <a:rPr sz="1400" b="1">
                <a:solidFill>
                  <a:srgbClr val="1B5E20"/>
                </a:solidFill>
                <a:latin typeface="Times New Roman"/>
              </a:rPr>
              <a:t>CPU cost grows slowly and stays lowest.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Lightweight design pays off at larger N.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222222"/>
                </a:solidFill>
                <a:latin typeface="Times New Roman"/>
              </a:rPr>
              <a:t>Proposed ≈ DAuth, both far below LAAKA / Zhou.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400" b="0" i="0">
                <a:solidFill>
                  <a:srgbClr val="FFFFFF"/>
                </a:solidFill>
                <a:latin typeface="Times New Roman"/>
              </a:rPr>
              <a:t>Hardware Results: Raspberry Pi 4B</a:t>
            </a:r>
          </a:p>
        </p:txBody>
      </p:sp>
      <p:pic>
        <p:nvPicPr>
          <p:cNvPr id="3" name="Picture 2" descr="fig_h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56" y="841248"/>
            <a:ext cx="9029240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37175"/>
            <a:ext cx="11247120" cy="29260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Times New Roman"/>
              </a:rPr>
              <a:t>Per-round energy and CPU time: Proposed vs DAuth vs LAAKA vs Zhou.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184647"/>
            <a:ext cx="11457432" cy="1399033"/>
          </a:xfrm>
          <a:prstGeom prst="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91440"/>
          <a:lstStyle/>
          <a:p>
            <a:pPr algn="ctr">
              <a:spcBef>
                <a:spcPts val="300"/>
              </a:spcBef>
            </a:pPr>
            <a:r>
              <a:rPr sz="1500" b="1">
                <a:solidFill>
                  <a:srgbClr val="1B5E20"/>
                </a:solidFill>
                <a:latin typeface="Times New Roman"/>
              </a:rPr>
              <a:t>Per-round Auth + Key-Exchange cost on real RPi 4B hardware.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222222"/>
                </a:solidFill>
                <a:latin typeface="Times New Roman"/>
              </a:rPr>
              <a:t>Order (energy): DAuth 0.152 J  &lt;  Proposed 0.286 J  &lt;  Zhou 0.333 J  &lt;  LAAKA 0.602 J.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222222"/>
                </a:solidFill>
                <a:latin typeface="Times New Roman"/>
              </a:rPr>
              <a:t>Proposed is the lightest anonymity-preserving scheme — about half the cost of LAAKA.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222222"/>
                </a:solidFill>
                <a:latin typeface="Times New Roman"/>
              </a:rPr>
              <a:t>Energy = wall-clock time × 3800 mW; 3 runs per scheme, warm-up round discarded.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" y="841248"/>
            <a:ext cx="164592" cy="100584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09728" cy="1005840"/>
          </a:xfrm>
          <a:prstGeom prst="rect">
            <a:avLst/>
          </a:prstGeom>
          <a:solidFill>
            <a:srgbClr val="F0B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152144"/>
            <a:ext cx="384048" cy="384048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932688"/>
            <a:ext cx="109545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500" b="1">
                <a:solidFill>
                  <a:srgbClr val="E07B54"/>
                </a:solidFill>
                <a:latin typeface="Times New Roman"/>
              </a:rPr>
              <a:t>Anonymity added at near-zero cost:</a:t>
            </a:r>
            <a:r>
              <a:rPr sz="1500" b="0">
                <a:solidFill>
                  <a:srgbClr val="222222"/>
                </a:solidFill>
                <a:latin typeface="Times New Roman"/>
              </a:rPr>
              <a:t> Pseudonym rotation (PID = H(ID_D || m_curr)) hides the real identity on the open channel while keeping device operations hash-only.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" y="1920240"/>
            <a:ext cx="164592" cy="1005840"/>
          </a:xfrm>
          <a:prstGeom prst="rect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109728" cy="1005840"/>
          </a:xfrm>
          <a:prstGeom prst="rect">
            <a:avLst/>
          </a:prstGeom>
          <a:solidFill>
            <a:srgbClr val="BBC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231136"/>
            <a:ext cx="384048" cy="384048"/>
          </a:xfrm>
          <a:prstGeom prst="ellipse">
            <a:avLst/>
          </a:prstGeom>
          <a:solidFill>
            <a:srgbClr val="7B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011680"/>
            <a:ext cx="109545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500" b="1">
                <a:solidFill>
                  <a:srgbClr val="7B8B2D"/>
                </a:solidFill>
                <a:latin typeface="Times New Roman"/>
              </a:rPr>
              <a:t>Robust desynchronisation recovery:</a:t>
            </a:r>
            <a:r>
              <a:rPr sz="1500" b="0">
                <a:solidFill>
                  <a:srgbClr val="222222"/>
                </a:solidFill>
                <a:latin typeface="Times New Roman"/>
              </a:rPr>
              <a:t> Dual-state (PID_curr / PID_old) at AS and GW recovers devices that miss an update packet — no costly re-enrollment.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" y="2999232"/>
            <a:ext cx="16459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999232"/>
            <a:ext cx="109728" cy="1005840"/>
          </a:xfrm>
          <a:prstGeom prst="rect">
            <a:avLst/>
          </a:prstGeom>
          <a:solidFill>
            <a:srgbClr val="5B9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090672"/>
            <a:ext cx="109545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500" b="1">
                <a:solidFill>
                  <a:srgbClr val="1B5E20"/>
                </a:solidFill>
                <a:latin typeface="Times New Roman"/>
              </a:rPr>
              <a:t>Decoupled &amp; multihop-ready:</a:t>
            </a:r>
            <a:r>
              <a:rPr sz="1500" b="0">
                <a:solidFill>
                  <a:srgbClr val="222222"/>
                </a:solidFill>
                <a:latin typeface="Times New Roman"/>
              </a:rPr>
              <a:t> Gateway-selected AS retained from DAuth; verified to scale across AS count and network size in COOJA.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" y="4078224"/>
            <a:ext cx="164592" cy="1005840"/>
          </a:xfrm>
          <a:prstGeom prst="rect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078224"/>
            <a:ext cx="109728" cy="1005840"/>
          </a:xfrm>
          <a:prstGeom prst="rect">
            <a:avLst/>
          </a:prstGeom>
          <a:solidFill>
            <a:srgbClr val="BE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7EB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169664"/>
            <a:ext cx="109545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500" b="1">
                <a:solidFill>
                  <a:srgbClr val="7EB3D8"/>
                </a:solidFill>
                <a:latin typeface="Times New Roman"/>
              </a:rPr>
              <a:t>Formally proven secure:</a:t>
            </a:r>
            <a:r>
              <a:rPr sz="1500" b="0">
                <a:solidFill>
                  <a:srgbClr val="222222"/>
                </a:solidFill>
                <a:latin typeface="Times New Roman"/>
              </a:rPr>
              <a:t> ProVerif confirms all 19 queries (true) under the Dolev–Yao model — secrecy, authentication, anonymity, and forward secrecy.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" y="5157216"/>
            <a:ext cx="164592" cy="1005840"/>
          </a:xfrm>
          <a:prstGeom prst="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157216"/>
            <a:ext cx="109728" cy="1005840"/>
          </a:xfrm>
          <a:prstGeom prst="rect">
            <a:avLst/>
          </a:prstGeom>
          <a:solidFill>
            <a:srgbClr val="66A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5468112"/>
            <a:ext cx="384048" cy="384048"/>
          </a:xfrm>
          <a:prstGeom prst="ellipse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" y="5248656"/>
            <a:ext cx="109545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64592"/>
          <a:lstStyle/>
          <a:p>
            <a:pPr algn="l"/>
            <a:r>
              <a:rPr sz="1500" b="1">
                <a:solidFill>
                  <a:srgbClr val="00696C"/>
                </a:solidFill>
                <a:latin typeface="Times New Roman"/>
              </a:rPr>
              <a:t>Lowest overhead among four schemes:</a:t>
            </a:r>
            <a:r>
              <a:rPr sz="1500" b="0">
                <a:solidFill>
                  <a:srgbClr val="222222"/>
                </a:solidFill>
                <a:latin typeface="Times New Roman"/>
              </a:rPr>
              <a:t> 42.8% / 32.4% lower energy than LAAKA / Zhou in COOJA; lightest anonymity-preserving scheme on RPi 4B hardware.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60120"/>
            <a:ext cx="5669280" cy="2331720"/>
          </a:xfrm>
          <a:prstGeom prst="rect">
            <a:avLst/>
          </a:prstGeom>
          <a:solidFill>
            <a:srgbClr val="FFFFFF"/>
          </a:solidFill>
          <a:ln w="20320">
            <a:solidFill>
              <a:srgbClr val="E07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669280" cy="502920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18488"/>
            <a:ext cx="640080" cy="640080"/>
          </a:xfrm>
          <a:prstGeom prst="ellipse">
            <a:avLst/>
          </a:prstGeom>
          <a:solidFill>
            <a:srgbClr val="E07B5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33272"/>
            <a:ext cx="5394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Post-Quantum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526280" cy="15544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Replace remaining classical assumptions with lattice-based primitives while preserving the lightweight, hash-centric device profile.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960120"/>
            <a:ext cx="5669280" cy="2331720"/>
          </a:xfrm>
          <a:prstGeom prst="rect">
            <a:avLst/>
          </a:prstGeom>
          <a:solidFill>
            <a:srgbClr val="BEFFFF"/>
          </a:solidFill>
          <a:ln w="20320">
            <a:solidFill>
              <a:srgbClr val="006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669280" cy="502920"/>
          </a:xfrm>
          <a:prstGeom prst="rect">
            <a:avLst/>
          </a:prstGeom>
          <a:solidFill>
            <a:srgbClr val="00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28232" y="1618488"/>
            <a:ext cx="640080" cy="640080"/>
          </a:xfrm>
          <a:prstGeom prst="ellipse">
            <a:avLst/>
          </a:prstGeom>
          <a:solidFill>
            <a:srgbClr val="00696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33272"/>
            <a:ext cx="5394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Group &amp; Handover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00200"/>
            <a:ext cx="4526280" cy="15544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Extend pseudonym rotation to batch/group authentication and seamless inter-gateway handover for mobile IoT devices.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66160"/>
            <a:ext cx="5669280" cy="2331720"/>
          </a:xfrm>
          <a:prstGeom prst="rect">
            <a:avLst/>
          </a:prstGeom>
          <a:solidFill>
            <a:srgbClr val="FFFFFF"/>
          </a:solidFill>
          <a:ln w="20320">
            <a:solidFill>
              <a:srgbClr val="7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566160"/>
            <a:ext cx="5669280" cy="502920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" y="4224528"/>
            <a:ext cx="640080" cy="640080"/>
          </a:xfrm>
          <a:prstGeom prst="ellipse">
            <a:avLst/>
          </a:prstGeom>
          <a:solidFill>
            <a:srgbClr val="7E5B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39312"/>
            <a:ext cx="5394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Real-World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4526280" cy="15544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Validate on a larger heterogeneous testbed (mixed MCUs) and integrate with standard IoT stacks (6LoWPAN / CoAP / DTLS).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5669280" cy="2331720"/>
          </a:xfrm>
          <a:prstGeom prst="rect">
            <a:avLst/>
          </a:prstGeom>
          <a:solidFill>
            <a:srgbClr val="D9FFDE"/>
          </a:solidFill>
          <a:ln w="2032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566160"/>
            <a:ext cx="56692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4224528"/>
            <a:ext cx="640080" cy="64008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bIns="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39312"/>
            <a:ext cx="5394960" cy="384048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Adaptive AS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06240"/>
            <a:ext cx="4526280" cy="15544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Energy- and trust-aware gateway policy for choosing the Authentication Server to further balance network-wide load.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lIns="182880" bIns="0" rIns="182880"/>
          <a:lstStyle/>
          <a:p>
            <a:pPr algn="ctr"/>
            <a:r>
              <a:rPr sz="3800" b="0" i="0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713232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[1]  </a:t>
            </a:r>
            <a:r>
              <a:rPr sz="1350">
                <a:solidFill>
                  <a:srgbClr val="222222"/>
                </a:solidFill>
                <a:latin typeface="Times New Roman"/>
              </a:rPr>
              <a:t>S. Das and M. Khatua, "Lightweight and Decoupled Distributed Authentication for IoT," Proc. COMSNETS, 2026.  (DAuth — base scheme)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28216"/>
            <a:ext cx="114574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[2]  </a:t>
            </a:r>
            <a:r>
              <a:rPr sz="1350">
                <a:solidFill>
                  <a:srgbClr val="222222"/>
                </a:solidFill>
                <a:latin typeface="Times New Roman"/>
              </a:rPr>
              <a:t>H. Ali and I. Ahmed, "LAAKA: Lightweight Anonymous Authentication and Key Agreement Scheme for Secure Fog-Driven IoT Systems," Computers &amp; Security, vol. 140, 103770, 2024.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496312"/>
            <a:ext cx="11457432" cy="713232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[3]  </a:t>
            </a:r>
            <a:r>
              <a:rPr sz="1350">
                <a:solidFill>
                  <a:srgbClr val="222222"/>
                </a:solidFill>
                <a:latin typeface="Times New Roman"/>
              </a:rPr>
              <a:t>X. Zhou et al., "Security-Enhanced Lightweight and Anonymity-Preserving User Authentication Scheme for IoT-Based Healthcare," IEEE Internet of Things J., vol. 11, no. 6, 2024.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[4]  </a:t>
            </a:r>
            <a:r>
              <a:rPr sz="1350">
                <a:solidFill>
                  <a:srgbClr val="222222"/>
                </a:solidFill>
                <a:latin typeface="Times New Roman"/>
              </a:rPr>
              <a:t>M. Wazid et al., "Design of Secure Three-Factor Authentication for Industrial IoT," IEEE Access, 2021.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032504"/>
            <a:ext cx="11457432" cy="713232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[5]  </a:t>
            </a:r>
            <a:r>
              <a:rPr sz="1350">
                <a:solidFill>
                  <a:srgbClr val="222222"/>
                </a:solidFill>
                <a:latin typeface="Times New Roman"/>
              </a:rPr>
              <a:t>S. Banerjee et al., "PUF-Based Lightweight Mutual Authentication for IoT," IEEE Internet of Things J., 2022.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800600"/>
            <a:ext cx="114574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[6]  </a:t>
            </a:r>
            <a:r>
              <a:rPr sz="1350">
                <a:solidFill>
                  <a:srgbClr val="222222"/>
                </a:solidFill>
                <a:latin typeface="Times New Roman"/>
              </a:rPr>
              <a:t>B. Blanchet, "ProVerif: Automatic Cryptographic Protocol Verifier," ProVerif 2.x manual.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568696"/>
            <a:ext cx="11457432" cy="713232"/>
          </a:xfrm>
          <a:prstGeom prst="rect">
            <a:avLst/>
          </a:prstGeom>
          <a:solidFill>
            <a:srgbClr val="E8F5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6200"/>
          <a:lstStyle/>
          <a:p>
            <a:pPr algn="ctr"/>
            <a:r>
              <a:rPr sz="1400" b="1">
                <a:solidFill>
                  <a:srgbClr val="2C5F2D"/>
                </a:solidFill>
                <a:latin typeface="Times New Roman"/>
              </a:rPr>
              <a:t>[7]  </a:t>
            </a:r>
            <a:r>
              <a:rPr sz="1350">
                <a:solidFill>
                  <a:srgbClr val="222222"/>
                </a:solidFill>
                <a:latin typeface="Times New Roman"/>
              </a:rPr>
              <a:t>Contiki-NG / COOJA Network Simulator, https://github.com/contiki-ng/contiki-ng.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88952" cy="118872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6000" b="0" i="0">
                <a:solidFill>
                  <a:srgbClr val="2C5F2D"/>
                </a:solidFill>
                <a:latin typeface="Times New Roman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34840"/>
            <a:ext cx="12188952" cy="411480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ctr"/>
            <a:r>
              <a:rPr sz="1800" b="0" i="0">
                <a:solidFill>
                  <a:srgbClr val="666666"/>
                </a:solidFill>
                <a:latin typeface="Times New Roman"/>
              </a:rPr>
              <a:t>Anup Kulkarni  •  Roll No. 224101017  •  IIT Guwahati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583680"/>
            <a:ext cx="502920" cy="256032"/>
          </a:xfrm>
          <a:prstGeom prst="rect">
            <a:avLst/>
          </a:prstGeom>
          <a:noFill/>
        </p:spPr>
        <p:txBody>
          <a:bodyPr wrap="square" lIns="73152" bIns="0" rIns="45720">
            <a:spAutoFit/>
          </a:bodyPr>
          <a:lstStyle/>
          <a:p>
            <a:pPr algn="r"/>
            <a:r>
              <a:rPr sz="1400" b="0" i="0">
                <a:solidFill>
                  <a:srgbClr val="97BC62"/>
                </a:solidFill>
                <a:latin typeface="Times New Roman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