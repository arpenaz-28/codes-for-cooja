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8"/>
  </p:notesMasterIdLst>
  <p:sldIdLst>
    <p:sldId id="306" r:id="rId3"/>
    <p:sldId id="307" r:id="rId4"/>
    <p:sldId id="308" r:id="rId5"/>
    <p:sldId id="309" r:id="rId6"/>
    <p:sldId id="310" r:id="rId7"/>
  </p:sldIdLst>
  <p:sldSz cx="9144000" cy="5143500" type="screen16x9"/>
  <p:notesSz cx="6858000" cy="9144000"/>
  <p:embeddedFontLst>
    <p:embeddedFont>
      <p:font typeface="Bebas Neue" panose="020F0502020204030204" pitchFamily="34" charset="0"/>
      <p:regular r:id="rId9"/>
    </p:embeddedFont>
    <p:embeddedFont>
      <p:font typeface="Martel Sans" panose="020B0604020202020204" charset="0"/>
      <p:regular r:id="rId10"/>
      <p:bold r:id="rId11"/>
    </p:embeddedFont>
    <p:embeddedFont>
      <p:font typeface="Nunito Light" pitchFamily="2" charset="0"/>
      <p:regular r:id="rId12"/>
    </p:embeddedFont>
    <p:embeddedFont>
      <p:font typeface="Proxima Nova" panose="020B0604020202020204" charset="0"/>
      <p:regular r:id="rId13"/>
      <p:bold r:id="rId14"/>
      <p:italic r:id="rId15"/>
      <p:boldItalic r:id="rId16"/>
    </p:embeddedFont>
    <p:embeddedFont>
      <p:font typeface="PT Sans" panose="020B0503020203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06B145-A1B8-43E4-807E-9D8230CBFC76}">
  <a:tblStyle styleId="{CB06B145-A1B8-43E4-807E-9D8230CBFC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51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924125" y="-1469350"/>
            <a:ext cx="3345844" cy="4413309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10;p2"/>
          <p:cNvCxnSpPr/>
          <p:nvPr/>
        </p:nvCxnSpPr>
        <p:spPr>
          <a:xfrm>
            <a:off x="7125" y="4784263"/>
            <a:ext cx="770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2"/>
          <p:cNvSpPr/>
          <p:nvPr/>
        </p:nvSpPr>
        <p:spPr>
          <a:xfrm>
            <a:off x="7593312" y="3657401"/>
            <a:ext cx="1991838" cy="1780188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717500" y="1220350"/>
            <a:ext cx="5709000" cy="197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717500" y="3447350"/>
            <a:ext cx="57090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-14200" y="299750"/>
            <a:ext cx="9151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/>
          <p:nvPr/>
        </p:nvSpPr>
        <p:spPr>
          <a:xfrm rot="-9272324">
            <a:off x="6812694" y="2401920"/>
            <a:ext cx="3345856" cy="4413325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075" y="4845400"/>
            <a:ext cx="6848100" cy="29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91525" y="1875350"/>
            <a:ext cx="5117400" cy="17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027375" y="745825"/>
            <a:ext cx="1403400" cy="108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89425" y="3902850"/>
            <a:ext cx="5121600" cy="500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24;p4"/>
          <p:cNvCxnSpPr/>
          <p:nvPr/>
        </p:nvCxnSpPr>
        <p:spPr>
          <a:xfrm>
            <a:off x="600" y="4818325"/>
            <a:ext cx="9136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4"/>
          <p:cNvSpPr/>
          <p:nvPr/>
        </p:nvSpPr>
        <p:spPr>
          <a:xfrm>
            <a:off x="8738500" y="92488"/>
            <a:ext cx="111900" cy="111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36583" y="4419600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215749"/>
            <a:ext cx="7704000" cy="3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5"/>
          <p:cNvCxnSpPr/>
          <p:nvPr/>
        </p:nvCxnSpPr>
        <p:spPr>
          <a:xfrm rot="10800000">
            <a:off x="7050" y="36572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7050" y="474967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32;p5"/>
          <p:cNvSpPr/>
          <p:nvPr/>
        </p:nvSpPr>
        <p:spPr>
          <a:xfrm flipH="1">
            <a:off x="259027" y="50562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 rot="-5400000" flipH="1">
            <a:off x="8173727" y="4842661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63475" y="1756575"/>
            <a:ext cx="3590100" cy="2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790300" y="1756575"/>
            <a:ext cx="3590100" cy="26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790430" y="1259525"/>
            <a:ext cx="35901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63475" y="1259525"/>
            <a:ext cx="3590100" cy="53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6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6"/>
          <p:cNvSpPr/>
          <p:nvPr/>
        </p:nvSpPr>
        <p:spPr>
          <a:xfrm rot="-5400000">
            <a:off x="8702602" y="5375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275764" y="43475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13225" y="5778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29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7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" name="Google Shape;48;p7"/>
          <p:cNvSpPr/>
          <p:nvPr/>
        </p:nvSpPr>
        <p:spPr>
          <a:xfrm rot="-5400000" flipH="1">
            <a:off x="8702602" y="43507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0800000" flipH="1">
            <a:off x="47164" y="6784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4230025" y="1894350"/>
            <a:ext cx="4073400" cy="25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230025" y="691900"/>
            <a:ext cx="4073400" cy="1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924476" y="855876"/>
            <a:ext cx="2990400" cy="340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8"/>
          <p:cNvCxnSpPr/>
          <p:nvPr/>
        </p:nvCxnSpPr>
        <p:spPr>
          <a:xfrm>
            <a:off x="1964575" y="4731796"/>
            <a:ext cx="7144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8"/>
          <p:cNvSpPr/>
          <p:nvPr/>
        </p:nvSpPr>
        <p:spPr>
          <a:xfrm rot="-9200649" flipH="1">
            <a:off x="7904621" y="-366632"/>
            <a:ext cx="1991783" cy="1780139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/>
          <p:nvPr/>
        </p:nvSpPr>
        <p:spPr>
          <a:xfrm flipH="1">
            <a:off x="-11337" y="-8529"/>
            <a:ext cx="82071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/>
          <p:nvPr/>
        </p:nvSpPr>
        <p:spPr>
          <a:xfrm rot="-1248345">
            <a:off x="-1316811" y="2554336"/>
            <a:ext cx="3345809" cy="4413263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644450" y="1437450"/>
            <a:ext cx="5855100" cy="22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9"/>
          <p:cNvCxnSpPr/>
          <p:nvPr/>
        </p:nvCxnSpPr>
        <p:spPr>
          <a:xfrm rot="10800000">
            <a:off x="7050" y="476137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9"/>
          <p:cNvCxnSpPr/>
          <p:nvPr/>
        </p:nvCxnSpPr>
        <p:spPr>
          <a:xfrm rot="10800000">
            <a:off x="7050" y="37742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9"/>
          <p:cNvSpPr/>
          <p:nvPr/>
        </p:nvSpPr>
        <p:spPr>
          <a:xfrm rot="-5400000">
            <a:off x="8838522" y="4849712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4261125" y="1462475"/>
            <a:ext cx="4093500" cy="30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/>
          <p:nvPr/>
        </p:nvSpPr>
        <p:spPr>
          <a:xfrm rot="-5400000">
            <a:off x="304122" y="49112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>
            <a:spLocks noGrp="1"/>
          </p:cNvSpPr>
          <p:nvPr>
            <p:ph type="pic" idx="2"/>
          </p:nvPr>
        </p:nvSpPr>
        <p:spPr>
          <a:xfrm>
            <a:off x="1002500" y="1221300"/>
            <a:ext cx="2606700" cy="297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4624825" y="3348600"/>
            <a:ext cx="3703500" cy="1112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 flipH="1">
            <a:off x="7836975" y="-1806344"/>
            <a:ext cx="3345844" cy="4413309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2" name="Google Shape;72;p11"/>
          <p:cNvCxnSpPr/>
          <p:nvPr/>
        </p:nvCxnSpPr>
        <p:spPr>
          <a:xfrm>
            <a:off x="-16625" y="403175"/>
            <a:ext cx="790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11"/>
          <p:cNvSpPr/>
          <p:nvPr/>
        </p:nvSpPr>
        <p:spPr>
          <a:xfrm rot="1599351" flipH="1">
            <a:off x="-763666" y="3721464"/>
            <a:ext cx="1991783" cy="1780139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 rot="10800000" flipH="1">
            <a:off x="936975" y="4775100"/>
            <a:ext cx="82071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1788600" y="1622150"/>
            <a:ext cx="5566800" cy="1306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1788600" y="3024275"/>
            <a:ext cx="5566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3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3"/>
          <p:cNvCxnSpPr/>
          <p:nvPr/>
        </p:nvCxnSpPr>
        <p:spPr>
          <a:xfrm>
            <a:off x="7050" y="48183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13"/>
          <p:cNvSpPr/>
          <p:nvPr/>
        </p:nvSpPr>
        <p:spPr>
          <a:xfrm>
            <a:off x="236583" y="76200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/>
          <p:nvPr/>
        </p:nvSpPr>
        <p:spPr>
          <a:xfrm rot="5400000">
            <a:off x="8694783" y="489519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789425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"/>
          </p:nvPr>
        </p:nvSpPr>
        <p:spPr>
          <a:xfrm>
            <a:off x="3419250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hasCustomPrompt="1"/>
          </p:nvPr>
        </p:nvSpPr>
        <p:spPr>
          <a:xfrm>
            <a:off x="1491575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3" hasCustomPrompt="1"/>
          </p:nvPr>
        </p:nvSpPr>
        <p:spPr>
          <a:xfrm>
            <a:off x="4121400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4"/>
          </p:nvPr>
        </p:nvSpPr>
        <p:spPr>
          <a:xfrm>
            <a:off x="6049075" y="3280250"/>
            <a:ext cx="2305500" cy="61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5" hasCustomPrompt="1"/>
          </p:nvPr>
        </p:nvSpPr>
        <p:spPr>
          <a:xfrm>
            <a:off x="6751225" y="1785025"/>
            <a:ext cx="901200" cy="61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6"/>
          </p:nvPr>
        </p:nvSpPr>
        <p:spPr>
          <a:xfrm>
            <a:off x="789425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7"/>
          </p:nvPr>
        </p:nvSpPr>
        <p:spPr>
          <a:xfrm>
            <a:off x="3419250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8"/>
          </p:nvPr>
        </p:nvSpPr>
        <p:spPr>
          <a:xfrm>
            <a:off x="6049075" y="2401825"/>
            <a:ext cx="2305500" cy="90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9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4"/>
          <p:cNvCxnSpPr/>
          <p:nvPr/>
        </p:nvCxnSpPr>
        <p:spPr>
          <a:xfrm rot="10800000">
            <a:off x="1885750" y="4765950"/>
            <a:ext cx="726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4"/>
          <p:cNvSpPr/>
          <p:nvPr/>
        </p:nvSpPr>
        <p:spPr>
          <a:xfrm rot="10800000" flipH="1">
            <a:off x="-754853" y="3294529"/>
            <a:ext cx="2738883" cy="2447853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0" y="0"/>
            <a:ext cx="91440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1607400" y="3100300"/>
            <a:ext cx="6691200" cy="6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1607400" y="1181628"/>
            <a:ext cx="6691200" cy="180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5"/>
          <p:cNvCxnSpPr/>
          <p:nvPr/>
        </p:nvCxnSpPr>
        <p:spPr>
          <a:xfrm rot="10800000"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5"/>
          <p:cNvCxnSpPr/>
          <p:nvPr/>
        </p:nvCxnSpPr>
        <p:spPr>
          <a:xfrm rot="10800000">
            <a:off x="7050" y="48183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" name="Google Shape;102;p15"/>
          <p:cNvSpPr/>
          <p:nvPr/>
        </p:nvSpPr>
        <p:spPr>
          <a:xfrm flipH="1">
            <a:off x="8746692" y="76200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 rot="-5400000" flipH="1">
            <a:off x="288492" y="489519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2058586" y="29511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2"/>
          </p:nvPr>
        </p:nvSpPr>
        <p:spPr>
          <a:xfrm>
            <a:off x="4910113" y="29511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3"/>
          </p:nvPr>
        </p:nvSpPr>
        <p:spPr>
          <a:xfrm>
            <a:off x="2058586" y="2476456"/>
            <a:ext cx="2175300" cy="5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4"/>
          </p:nvPr>
        </p:nvSpPr>
        <p:spPr>
          <a:xfrm>
            <a:off x="4910114" y="2476456"/>
            <a:ext cx="2175300" cy="5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6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6"/>
          <p:cNvSpPr/>
          <p:nvPr/>
        </p:nvSpPr>
        <p:spPr>
          <a:xfrm rot="5400000" flipH="1">
            <a:off x="961948" y="6664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/>
          <p:nvPr/>
        </p:nvSpPr>
        <p:spPr>
          <a:xfrm rot="5400000" flipH="1">
            <a:off x="8397148" y="482937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cxnSp>
        <p:nvCxnSpPr>
          <p:cNvPr id="117" name="Google Shape;117;p17"/>
          <p:cNvCxnSpPr/>
          <p:nvPr/>
        </p:nvCxnSpPr>
        <p:spPr>
          <a:xfrm>
            <a:off x="7050" y="36572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7"/>
          <p:cNvCxnSpPr/>
          <p:nvPr/>
        </p:nvCxnSpPr>
        <p:spPr>
          <a:xfrm>
            <a:off x="7050" y="474967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7"/>
          <p:cNvSpPr/>
          <p:nvPr/>
        </p:nvSpPr>
        <p:spPr>
          <a:xfrm rot="-5400000">
            <a:off x="504748" y="486054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/>
          <p:nvPr/>
        </p:nvSpPr>
        <p:spPr>
          <a:xfrm rot="10800000">
            <a:off x="8473117" y="470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cxnSp>
        <p:nvCxnSpPr>
          <p:cNvPr id="123" name="Google Shape;123;p18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8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" name="Google Shape;125;p18"/>
          <p:cNvSpPr/>
          <p:nvPr/>
        </p:nvSpPr>
        <p:spPr>
          <a:xfrm rot="10800000" flipH="1">
            <a:off x="199948" y="523848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/>
          <p:nvPr/>
        </p:nvSpPr>
        <p:spPr>
          <a:xfrm rot="5400000" flipH="1">
            <a:off x="8549548" y="437217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5196900" y="742800"/>
            <a:ext cx="2909100" cy="36579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1024800" y="1130188"/>
            <a:ext cx="3807900" cy="16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1"/>
          </p:nvPr>
        </p:nvSpPr>
        <p:spPr>
          <a:xfrm>
            <a:off x="1024800" y="2897013"/>
            <a:ext cx="38079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31" name="Google Shape;131;p19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19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" name="Google Shape;133;p19"/>
          <p:cNvSpPr/>
          <p:nvPr/>
        </p:nvSpPr>
        <p:spPr>
          <a:xfrm rot="10800000">
            <a:off x="8702602" y="48809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/>
          <p:nvPr/>
        </p:nvSpPr>
        <p:spPr>
          <a:xfrm rot="-5400000">
            <a:off x="260083" y="6466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0"/>
          <p:cNvCxnSpPr/>
          <p:nvPr/>
        </p:nvCxnSpPr>
        <p:spPr>
          <a:xfrm>
            <a:off x="7050" y="36572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7050" y="474967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" name="Google Shape;138;p20"/>
          <p:cNvSpPr/>
          <p:nvPr/>
        </p:nvSpPr>
        <p:spPr>
          <a:xfrm rot="5400000">
            <a:off x="144753" y="6538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/>
          <p:nvPr/>
        </p:nvSpPr>
        <p:spPr>
          <a:xfrm rot="10800000">
            <a:off x="8679153" y="425638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1008475" y="1633550"/>
            <a:ext cx="2893800" cy="66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ubTitle" idx="1"/>
          </p:nvPr>
        </p:nvSpPr>
        <p:spPr>
          <a:xfrm>
            <a:off x="1008475" y="2298850"/>
            <a:ext cx="2893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21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21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21"/>
          <p:cNvSpPr/>
          <p:nvPr/>
        </p:nvSpPr>
        <p:spPr>
          <a:xfrm rot="10800000" flipH="1">
            <a:off x="276148" y="43495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1"/>
          <p:cNvSpPr/>
          <p:nvPr/>
        </p:nvSpPr>
        <p:spPr>
          <a:xfrm rot="-5400000" flipH="1">
            <a:off x="8734348" y="5395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"/>
          </p:nvPr>
        </p:nvSpPr>
        <p:spPr>
          <a:xfrm>
            <a:off x="937625" y="28749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2"/>
          </p:nvPr>
        </p:nvSpPr>
        <p:spPr>
          <a:xfrm>
            <a:off x="3484346" y="28749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3"/>
          </p:nvPr>
        </p:nvSpPr>
        <p:spPr>
          <a:xfrm>
            <a:off x="6031074" y="287492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4"/>
          </p:nvPr>
        </p:nvSpPr>
        <p:spPr>
          <a:xfrm>
            <a:off x="937625" y="2400256"/>
            <a:ext cx="2175300" cy="5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5"/>
          </p:nvPr>
        </p:nvSpPr>
        <p:spPr>
          <a:xfrm>
            <a:off x="3484347" y="2400256"/>
            <a:ext cx="2175300" cy="5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6"/>
          </p:nvPr>
        </p:nvSpPr>
        <p:spPr>
          <a:xfrm>
            <a:off x="6031075" y="2400256"/>
            <a:ext cx="2175300" cy="5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2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" name="Google Shape;156;p22"/>
          <p:cNvCxnSpPr/>
          <p:nvPr/>
        </p:nvCxnSpPr>
        <p:spPr>
          <a:xfrm>
            <a:off x="7050" y="48183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22"/>
          <p:cNvSpPr/>
          <p:nvPr/>
        </p:nvSpPr>
        <p:spPr>
          <a:xfrm rot="5400000">
            <a:off x="276152" y="487096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 rot="10800000">
            <a:off x="8658152" y="52756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1"/>
          </p:nvPr>
        </p:nvSpPr>
        <p:spPr>
          <a:xfrm>
            <a:off x="838475" y="1701410"/>
            <a:ext cx="7467000" cy="53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2"/>
          </p:nvPr>
        </p:nvSpPr>
        <p:spPr>
          <a:xfrm>
            <a:off x="838475" y="2845605"/>
            <a:ext cx="74670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3"/>
          </p:nvPr>
        </p:nvSpPr>
        <p:spPr>
          <a:xfrm>
            <a:off x="838475" y="3995946"/>
            <a:ext cx="74670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4"/>
          </p:nvPr>
        </p:nvSpPr>
        <p:spPr>
          <a:xfrm>
            <a:off x="838475" y="1197658"/>
            <a:ext cx="7467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5"/>
          </p:nvPr>
        </p:nvSpPr>
        <p:spPr>
          <a:xfrm>
            <a:off x="838475" y="2346321"/>
            <a:ext cx="7467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6"/>
          </p:nvPr>
        </p:nvSpPr>
        <p:spPr>
          <a:xfrm>
            <a:off x="838475" y="3496878"/>
            <a:ext cx="7467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3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3"/>
          <p:cNvSpPr/>
          <p:nvPr/>
        </p:nvSpPr>
        <p:spPr>
          <a:xfrm>
            <a:off x="276148" y="5387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400000">
            <a:off x="8721648" y="483769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1"/>
          </p:nvPr>
        </p:nvSpPr>
        <p:spPr>
          <a:xfrm>
            <a:off x="1309200" y="1586625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2"/>
          </p:nvPr>
        </p:nvSpPr>
        <p:spPr>
          <a:xfrm>
            <a:off x="1309210" y="2743840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3"/>
          </p:nvPr>
        </p:nvSpPr>
        <p:spPr>
          <a:xfrm>
            <a:off x="1309210" y="3919373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4"/>
          </p:nvPr>
        </p:nvSpPr>
        <p:spPr>
          <a:xfrm>
            <a:off x="1309195" y="1158080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5"/>
          </p:nvPr>
        </p:nvSpPr>
        <p:spPr>
          <a:xfrm>
            <a:off x="1309195" y="2322763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6"/>
          </p:nvPr>
        </p:nvSpPr>
        <p:spPr>
          <a:xfrm>
            <a:off x="1309195" y="3487447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p24"/>
          <p:cNvCxnSpPr/>
          <p:nvPr/>
        </p:nvCxnSpPr>
        <p:spPr>
          <a:xfrm rot="10800000">
            <a:off x="7050" y="36572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4"/>
          <p:cNvCxnSpPr/>
          <p:nvPr/>
        </p:nvCxnSpPr>
        <p:spPr>
          <a:xfrm rot="10800000">
            <a:off x="7050" y="4749674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4"/>
          <p:cNvSpPr/>
          <p:nvPr/>
        </p:nvSpPr>
        <p:spPr>
          <a:xfrm flipH="1">
            <a:off x="8859527" y="6538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4"/>
          <p:cNvSpPr/>
          <p:nvPr/>
        </p:nvSpPr>
        <p:spPr>
          <a:xfrm rot="5400000" flipH="1">
            <a:off x="248927" y="4408783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ubTitle" idx="1"/>
          </p:nvPr>
        </p:nvSpPr>
        <p:spPr>
          <a:xfrm>
            <a:off x="1579076" y="1910934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2"/>
          </p:nvPr>
        </p:nvSpPr>
        <p:spPr>
          <a:xfrm>
            <a:off x="5155624" y="1910934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subTitle" idx="3"/>
          </p:nvPr>
        </p:nvSpPr>
        <p:spPr>
          <a:xfrm>
            <a:off x="1579076" y="3571134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4"/>
          </p:nvPr>
        </p:nvSpPr>
        <p:spPr>
          <a:xfrm>
            <a:off x="5155624" y="3571134"/>
            <a:ext cx="24093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5"/>
          </p:nvPr>
        </p:nvSpPr>
        <p:spPr>
          <a:xfrm>
            <a:off x="1579076" y="1462600"/>
            <a:ext cx="2409300" cy="4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6"/>
          </p:nvPr>
        </p:nvSpPr>
        <p:spPr>
          <a:xfrm>
            <a:off x="5155624" y="1462600"/>
            <a:ext cx="2409300" cy="4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7"/>
          </p:nvPr>
        </p:nvSpPr>
        <p:spPr>
          <a:xfrm>
            <a:off x="1579076" y="3122775"/>
            <a:ext cx="2409300" cy="4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8"/>
          </p:nvPr>
        </p:nvSpPr>
        <p:spPr>
          <a:xfrm>
            <a:off x="5155624" y="3122775"/>
            <a:ext cx="2409300" cy="4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25"/>
          <p:cNvCxnSpPr/>
          <p:nvPr/>
        </p:nvCxnSpPr>
        <p:spPr>
          <a:xfrm rot="10800000"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5"/>
          <p:cNvCxnSpPr/>
          <p:nvPr/>
        </p:nvCxnSpPr>
        <p:spPr>
          <a:xfrm rot="10800000"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5"/>
          <p:cNvSpPr/>
          <p:nvPr/>
        </p:nvSpPr>
        <p:spPr>
          <a:xfrm rot="10800000">
            <a:off x="8707127" y="43495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5"/>
          <p:cNvSpPr/>
          <p:nvPr/>
        </p:nvSpPr>
        <p:spPr>
          <a:xfrm rot="-5400000">
            <a:off x="248927" y="6157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subTitle" idx="1"/>
          </p:nvPr>
        </p:nvSpPr>
        <p:spPr>
          <a:xfrm>
            <a:off x="1114552" y="2225400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2"/>
          </p:nvPr>
        </p:nvSpPr>
        <p:spPr>
          <a:xfrm>
            <a:off x="3584400" y="2225400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subTitle" idx="3"/>
          </p:nvPr>
        </p:nvSpPr>
        <p:spPr>
          <a:xfrm>
            <a:off x="1114552" y="38842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4"/>
          </p:nvPr>
        </p:nvSpPr>
        <p:spPr>
          <a:xfrm>
            <a:off x="3584400" y="38842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5"/>
          </p:nvPr>
        </p:nvSpPr>
        <p:spPr>
          <a:xfrm>
            <a:off x="6054248" y="2225400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subTitle" idx="6"/>
          </p:nvPr>
        </p:nvSpPr>
        <p:spPr>
          <a:xfrm>
            <a:off x="6054248" y="38842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subTitle" idx="7"/>
          </p:nvPr>
        </p:nvSpPr>
        <p:spPr>
          <a:xfrm>
            <a:off x="1113052" y="1764457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8"/>
          </p:nvPr>
        </p:nvSpPr>
        <p:spPr>
          <a:xfrm>
            <a:off x="3582900" y="1764457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5" name="Google Shape;205;p25"/>
          <p:cNvSpPr txBox="1">
            <a:spLocks noGrp="1"/>
          </p:cNvSpPr>
          <p:nvPr>
            <p:ph type="subTitle" idx="9"/>
          </p:nvPr>
        </p:nvSpPr>
        <p:spPr>
          <a:xfrm>
            <a:off x="6052748" y="1764457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6" name="Google Shape;206;p25"/>
          <p:cNvSpPr txBox="1">
            <a:spLocks noGrp="1"/>
          </p:cNvSpPr>
          <p:nvPr>
            <p:ph type="subTitle" idx="13"/>
          </p:nvPr>
        </p:nvSpPr>
        <p:spPr>
          <a:xfrm>
            <a:off x="1113052" y="3423088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subTitle" idx="14"/>
          </p:nvPr>
        </p:nvSpPr>
        <p:spPr>
          <a:xfrm>
            <a:off x="3582900" y="3423088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subTitle" idx="15"/>
          </p:nvPr>
        </p:nvSpPr>
        <p:spPr>
          <a:xfrm>
            <a:off x="6052748" y="3423088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/>
          <p:nvPr/>
        </p:nvSpPr>
        <p:spPr>
          <a:xfrm rot="-738046">
            <a:off x="-2228269" y="1848945"/>
            <a:ext cx="3345851" cy="4413318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2" name="Google Shape;212;p26"/>
          <p:cNvCxnSpPr/>
          <p:nvPr/>
        </p:nvCxnSpPr>
        <p:spPr>
          <a:xfrm>
            <a:off x="1110694" y="4734966"/>
            <a:ext cx="8048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6"/>
          <p:cNvCxnSpPr/>
          <p:nvPr/>
        </p:nvCxnSpPr>
        <p:spPr>
          <a:xfrm>
            <a:off x="7050" y="308864"/>
            <a:ext cx="9129900" cy="0"/>
          </a:xfrm>
          <a:prstGeom prst="straightConnector1">
            <a:avLst/>
          </a:prstGeom>
          <a:noFill/>
          <a:ln w="9525" cap="flat" cmpd="sng">
            <a:solidFill>
              <a:srgbClr val="0C343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26"/>
          <p:cNvSpPr/>
          <p:nvPr/>
        </p:nvSpPr>
        <p:spPr>
          <a:xfrm rot="8255450">
            <a:off x="7867905" y="-428813"/>
            <a:ext cx="1991823" cy="1780174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0" y="-5348"/>
            <a:ext cx="91440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6"/>
          <p:cNvSpPr txBox="1">
            <a:spLocks noGrp="1"/>
          </p:cNvSpPr>
          <p:nvPr>
            <p:ph type="title" hasCustomPrompt="1"/>
          </p:nvPr>
        </p:nvSpPr>
        <p:spPr>
          <a:xfrm>
            <a:off x="2223600" y="628312"/>
            <a:ext cx="46968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" name="Google Shape;217;p26"/>
          <p:cNvSpPr txBox="1">
            <a:spLocks noGrp="1"/>
          </p:cNvSpPr>
          <p:nvPr>
            <p:ph type="subTitle" idx="1"/>
          </p:nvPr>
        </p:nvSpPr>
        <p:spPr>
          <a:xfrm>
            <a:off x="2223600" y="1459251"/>
            <a:ext cx="46968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80568"/>
            <a:ext cx="46968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9" name="Google Shape;219;p26"/>
          <p:cNvSpPr txBox="1">
            <a:spLocks noGrp="1"/>
          </p:cNvSpPr>
          <p:nvPr>
            <p:ph type="subTitle" idx="3"/>
          </p:nvPr>
        </p:nvSpPr>
        <p:spPr>
          <a:xfrm>
            <a:off x="2223600" y="2816185"/>
            <a:ext cx="46968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20" name="Google Shape;220;p26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32824"/>
            <a:ext cx="4696800" cy="768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1" name="Google Shape;221;p26"/>
          <p:cNvSpPr txBox="1">
            <a:spLocks noGrp="1"/>
          </p:cNvSpPr>
          <p:nvPr>
            <p:ph type="subTitle" idx="5"/>
          </p:nvPr>
        </p:nvSpPr>
        <p:spPr>
          <a:xfrm>
            <a:off x="2223600" y="4184906"/>
            <a:ext cx="46968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 rot="10800000" flipH="1">
            <a:off x="-2152725" y="-707350"/>
            <a:ext cx="3345844" cy="4413309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4" name="Google Shape;224;p27"/>
          <p:cNvCxnSpPr/>
          <p:nvPr/>
        </p:nvCxnSpPr>
        <p:spPr>
          <a:xfrm>
            <a:off x="7125" y="4784263"/>
            <a:ext cx="774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7"/>
          <p:cNvSpPr/>
          <p:nvPr/>
        </p:nvSpPr>
        <p:spPr>
          <a:xfrm rot="4958779" flipH="1">
            <a:off x="7669531" y="3885962"/>
            <a:ext cx="1991846" cy="1780195"/>
          </a:xfrm>
          <a:custGeom>
            <a:avLst/>
            <a:gdLst/>
            <a:ahLst/>
            <a:cxnLst/>
            <a:rect l="l" t="t" r="r" b="b"/>
            <a:pathLst>
              <a:path w="56466" h="50466" extrusionOk="0">
                <a:moveTo>
                  <a:pt x="37515" y="1"/>
                </a:moveTo>
                <a:cubicBezTo>
                  <a:pt x="36935" y="1"/>
                  <a:pt x="36337" y="32"/>
                  <a:pt x="35720" y="98"/>
                </a:cubicBezTo>
                <a:cubicBezTo>
                  <a:pt x="17934" y="1988"/>
                  <a:pt x="1" y="27058"/>
                  <a:pt x="3582" y="37543"/>
                </a:cubicBezTo>
                <a:cubicBezTo>
                  <a:pt x="6359" y="45688"/>
                  <a:pt x="14899" y="50465"/>
                  <a:pt x="30004" y="50465"/>
                </a:cubicBezTo>
                <a:cubicBezTo>
                  <a:pt x="30439" y="50465"/>
                  <a:pt x="30881" y="50461"/>
                  <a:pt x="31327" y="50453"/>
                </a:cubicBezTo>
                <a:cubicBezTo>
                  <a:pt x="47258" y="50177"/>
                  <a:pt x="56466" y="33832"/>
                  <a:pt x="54956" y="22976"/>
                </a:cubicBezTo>
                <a:cubicBezTo>
                  <a:pt x="53518" y="12646"/>
                  <a:pt x="49083" y="1"/>
                  <a:pt x="37515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0" y="0"/>
            <a:ext cx="9144000" cy="36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title"/>
          </p:nvPr>
        </p:nvSpPr>
        <p:spPr>
          <a:xfrm>
            <a:off x="2347975" y="602400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subTitle" idx="1"/>
          </p:nvPr>
        </p:nvSpPr>
        <p:spPr>
          <a:xfrm>
            <a:off x="2347925" y="177066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2223600" y="3611950"/>
            <a:ext cx="46968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,</a:t>
            </a: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,</a:t>
            </a:r>
            <a:r>
              <a:rPr lang="en" sz="12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endParaRPr sz="1200" b="1" u="sng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Google Shape;231;p28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8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8"/>
          <p:cNvSpPr/>
          <p:nvPr/>
        </p:nvSpPr>
        <p:spPr>
          <a:xfrm rot="10800000" flipH="1">
            <a:off x="276148" y="43495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"/>
          <p:cNvSpPr/>
          <p:nvPr/>
        </p:nvSpPr>
        <p:spPr>
          <a:xfrm rot="5400000" flipH="1">
            <a:off x="8734348" y="615729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29"/>
          <p:cNvCxnSpPr/>
          <p:nvPr/>
        </p:nvCxnSpPr>
        <p:spPr>
          <a:xfrm>
            <a:off x="7050" y="35816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9"/>
          <p:cNvCxnSpPr/>
          <p:nvPr/>
        </p:nvCxnSpPr>
        <p:spPr>
          <a:xfrm>
            <a:off x="7050" y="4742113"/>
            <a:ext cx="9129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29"/>
          <p:cNvSpPr/>
          <p:nvPr/>
        </p:nvSpPr>
        <p:spPr>
          <a:xfrm>
            <a:off x="276148" y="5387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9"/>
          <p:cNvSpPr/>
          <p:nvPr/>
        </p:nvSpPr>
        <p:spPr>
          <a:xfrm rot="5400000">
            <a:off x="8734348" y="4272544"/>
            <a:ext cx="160724" cy="212002"/>
          </a:xfrm>
          <a:custGeom>
            <a:avLst/>
            <a:gdLst/>
            <a:ahLst/>
            <a:cxnLst/>
            <a:rect l="l" t="t" r="r" b="b"/>
            <a:pathLst>
              <a:path w="45179" h="59593" extrusionOk="0">
                <a:moveTo>
                  <a:pt x="22718" y="1"/>
                </a:moveTo>
                <a:cubicBezTo>
                  <a:pt x="20441" y="1"/>
                  <a:pt x="12924" y="1856"/>
                  <a:pt x="8122" y="7999"/>
                </a:cubicBezTo>
                <a:cubicBezTo>
                  <a:pt x="3142" y="14377"/>
                  <a:pt x="1287" y="24111"/>
                  <a:pt x="821" y="28046"/>
                </a:cubicBezTo>
                <a:cubicBezTo>
                  <a:pt x="355" y="31990"/>
                  <a:pt x="1" y="40094"/>
                  <a:pt x="5101" y="48792"/>
                </a:cubicBezTo>
                <a:cubicBezTo>
                  <a:pt x="10210" y="57483"/>
                  <a:pt x="17847" y="59105"/>
                  <a:pt x="24337" y="59563"/>
                </a:cubicBezTo>
                <a:cubicBezTo>
                  <a:pt x="24621" y="59583"/>
                  <a:pt x="24905" y="59593"/>
                  <a:pt x="25189" y="59593"/>
                </a:cubicBezTo>
                <a:cubicBezTo>
                  <a:pt x="31381" y="59593"/>
                  <a:pt x="37453" y="54851"/>
                  <a:pt x="40440" y="50527"/>
                </a:cubicBezTo>
                <a:cubicBezTo>
                  <a:pt x="43573" y="46005"/>
                  <a:pt x="42408" y="39533"/>
                  <a:pt x="43107" y="36624"/>
                </a:cubicBezTo>
                <a:cubicBezTo>
                  <a:pt x="43564" y="34726"/>
                  <a:pt x="45178" y="31619"/>
                  <a:pt x="44436" y="27692"/>
                </a:cubicBezTo>
                <a:cubicBezTo>
                  <a:pt x="43331" y="21893"/>
                  <a:pt x="40216" y="15309"/>
                  <a:pt x="37782" y="9509"/>
                </a:cubicBezTo>
                <a:cubicBezTo>
                  <a:pt x="35340" y="3719"/>
                  <a:pt x="28730" y="422"/>
                  <a:pt x="22948" y="8"/>
                </a:cubicBezTo>
                <a:cubicBezTo>
                  <a:pt x="22879" y="3"/>
                  <a:pt x="22802" y="1"/>
                  <a:pt x="2271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rtel Sans"/>
              <a:buNone/>
              <a:defRPr sz="3000" b="1">
                <a:solidFill>
                  <a:schemeClr val="dk1"/>
                </a:solidFill>
                <a:latin typeface="Martel Sans"/>
                <a:ea typeface="Martel Sans"/>
                <a:cs typeface="Martel Sans"/>
                <a:sym typeface="Martel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221000"/>
            <a:ext cx="7717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●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Char char="○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T Sans"/>
              <a:buChar char="■"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ctrTitle"/>
          </p:nvPr>
        </p:nvSpPr>
        <p:spPr>
          <a:xfrm>
            <a:off x="1717500" y="1220350"/>
            <a:ext cx="5709000" cy="197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Lightweight, Anonymous &amp;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Decoupled Authentication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for Multihop IoT Networks</a:t>
            </a:r>
            <a:endParaRPr lang="en-US" dirty="0"/>
          </a:p>
        </p:txBody>
      </p:sp>
      <p:sp>
        <p:nvSpPr>
          <p:cNvPr id="251" name="Google Shape;251;p33"/>
          <p:cNvSpPr txBox="1">
            <a:spLocks noGrp="1"/>
          </p:cNvSpPr>
          <p:nvPr>
            <p:ph type="subTitle" idx="1"/>
          </p:nvPr>
        </p:nvSpPr>
        <p:spPr>
          <a:xfrm>
            <a:off x="1717500" y="3447350"/>
            <a:ext cx="5709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MTP Thesis Defense  ·  Anup Kulkarni  ·  IIT Guwahati  ·  </a:t>
            </a:r>
            <a:r>
              <a:rPr lang="en-US" sz="1200"/>
              <a:t>June 2026</a:t>
            </a:r>
            <a:br>
              <a:rPr lang="en-US" sz="1200"/>
            </a:br>
            <a:r>
              <a:rPr lang="en-US" sz="1200"/>
              <a:t>Hello</a:t>
            </a:r>
            <a:endParaRPr lang="en-US" dirty="0"/>
          </a:p>
        </p:txBody>
      </p:sp>
      <p:cxnSp>
        <p:nvCxnSpPr>
          <p:cNvPr id="252" name="Google Shape;252;p33"/>
          <p:cNvCxnSpPr/>
          <p:nvPr/>
        </p:nvCxnSpPr>
        <p:spPr>
          <a:xfrm>
            <a:off x="1978200" y="3322512"/>
            <a:ext cx="5187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>
            <a:spLocks noGrp="1"/>
          </p:cNvSpPr>
          <p:nvPr>
            <p:ph type="title" idx="9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Agenda</a:t>
            </a:r>
            <a:endParaRPr lang="en-US" dirty="0"/>
          </a:p>
        </p:txBody>
      </p:sp>
      <p:sp>
        <p:nvSpPr>
          <p:cNvPr id="267" name="Google Shape;267;p35"/>
          <p:cNvSpPr txBox="1">
            <a:spLocks noGrp="1"/>
          </p:cNvSpPr>
          <p:nvPr>
            <p:ph type="subTitle" idx="1"/>
          </p:nvPr>
        </p:nvSpPr>
        <p:spPr>
          <a:xfrm>
            <a:off x="789425" y="328025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IoT threat landscape &amp; research gaps</a:t>
            </a:r>
            <a:endParaRPr lang="en-US" dirty="0"/>
          </a:p>
        </p:txBody>
      </p:sp>
      <p:sp>
        <p:nvSpPr>
          <p:cNvPr id="268" name="Google Shape;268;p35"/>
          <p:cNvSpPr txBox="1">
            <a:spLocks noGrp="1"/>
          </p:cNvSpPr>
          <p:nvPr>
            <p:ph type="subTitle" idx="2"/>
          </p:nvPr>
        </p:nvSpPr>
        <p:spPr>
          <a:xfrm>
            <a:off x="3419250" y="328025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4-phase PUF-based protocol with pseudonym rotation &amp; desync recovery</a:t>
            </a:r>
            <a:endParaRPr lang="en-US" dirty="0"/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1491575" y="1785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01</a:t>
            </a:r>
            <a:endParaRPr lang="en-US" dirty="0"/>
          </a:p>
        </p:txBody>
      </p:sp>
      <p:sp>
        <p:nvSpPr>
          <p:cNvPr id="270" name="Google Shape;270;p35"/>
          <p:cNvSpPr txBox="1">
            <a:spLocks noGrp="1"/>
          </p:cNvSpPr>
          <p:nvPr>
            <p:ph type="title" idx="3"/>
          </p:nvPr>
        </p:nvSpPr>
        <p:spPr>
          <a:xfrm>
            <a:off x="4121400" y="1785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02</a:t>
            </a:r>
            <a:endParaRPr lang="en-US" dirty="0"/>
          </a:p>
        </p:txBody>
      </p:sp>
      <p:sp>
        <p:nvSpPr>
          <p:cNvPr id="271" name="Google Shape;271;p35"/>
          <p:cNvSpPr txBox="1">
            <a:spLocks noGrp="1"/>
          </p:cNvSpPr>
          <p:nvPr>
            <p:ph type="subTitle" idx="4"/>
          </p:nvPr>
        </p:nvSpPr>
        <p:spPr>
          <a:xfrm>
            <a:off x="6049075" y="3280250"/>
            <a:ext cx="2305500" cy="6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ProVerif formal proofs + COOJA simulation + RPi 4B benchmarks</a:t>
            </a:r>
            <a:endParaRPr lang="en-US" dirty="0"/>
          </a:p>
        </p:txBody>
      </p:sp>
      <p:sp>
        <p:nvSpPr>
          <p:cNvPr id="272" name="Google Shape;272;p35"/>
          <p:cNvSpPr txBox="1">
            <a:spLocks noGrp="1"/>
          </p:cNvSpPr>
          <p:nvPr>
            <p:ph type="title" idx="5"/>
          </p:nvPr>
        </p:nvSpPr>
        <p:spPr>
          <a:xfrm>
            <a:off x="6751225" y="1785025"/>
            <a:ext cx="9012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03</a:t>
            </a:r>
            <a:endParaRPr lang="en-US" dirty="0"/>
          </a:p>
        </p:txBody>
      </p:sp>
      <p:sp>
        <p:nvSpPr>
          <p:cNvPr id="273" name="Google Shape;273;p35"/>
          <p:cNvSpPr txBox="1">
            <a:spLocks noGrp="1"/>
          </p:cNvSpPr>
          <p:nvPr>
            <p:ph type="subTitle" idx="6"/>
          </p:nvPr>
        </p:nvSpPr>
        <p:spPr>
          <a:xfrm>
            <a:off x="789425" y="2401825"/>
            <a:ext cx="23055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Background &amp;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Motivation</a:t>
            </a:r>
            <a:endParaRPr lang="en-US" dirty="0"/>
          </a:p>
        </p:txBody>
      </p:sp>
      <p:sp>
        <p:nvSpPr>
          <p:cNvPr id="274" name="Google Shape;274;p35"/>
          <p:cNvSpPr txBox="1">
            <a:spLocks noGrp="1"/>
          </p:cNvSpPr>
          <p:nvPr>
            <p:ph type="subTitle" idx="7"/>
          </p:nvPr>
        </p:nvSpPr>
        <p:spPr>
          <a:xfrm>
            <a:off x="3419250" y="2401825"/>
            <a:ext cx="23055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Proposed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Protocol</a:t>
            </a:r>
            <a:endParaRPr lang="en-US" dirty="0"/>
          </a:p>
        </p:txBody>
      </p:sp>
      <p:sp>
        <p:nvSpPr>
          <p:cNvPr id="275" name="Google Shape;275;p35"/>
          <p:cNvSpPr txBox="1">
            <a:spLocks noGrp="1"/>
          </p:cNvSpPr>
          <p:nvPr>
            <p:ph type="subTitle" idx="8"/>
          </p:nvPr>
        </p:nvSpPr>
        <p:spPr>
          <a:xfrm>
            <a:off x="6049075" y="2401825"/>
            <a:ext cx="2305500" cy="9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Security &amp;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/>
              <a:t>Evaluation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>
            <a:spLocks noGrp="1"/>
          </p:cNvSpPr>
          <p:nvPr>
            <p:ph type="title"/>
          </p:nvPr>
        </p:nvSpPr>
        <p:spPr>
          <a:xfrm>
            <a:off x="791525" y="1875350"/>
            <a:ext cx="5117400" cy="17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/>
              <a:t>Background &amp;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/>
              <a:t>Motivation</a:t>
            </a:r>
            <a:endParaRPr lang="en-US" dirty="0"/>
          </a:p>
        </p:txBody>
      </p:sp>
      <p:sp>
        <p:nvSpPr>
          <p:cNvPr id="281" name="Google Shape;281;p36"/>
          <p:cNvSpPr txBox="1">
            <a:spLocks noGrp="1"/>
          </p:cNvSpPr>
          <p:nvPr>
            <p:ph type="subTitle" idx="1"/>
          </p:nvPr>
        </p:nvSpPr>
        <p:spPr>
          <a:xfrm>
            <a:off x="789425" y="3902850"/>
            <a:ext cx="5121600" cy="5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300" dirty="0"/>
              <a:t>Why do multihop IoT networks need rethinking?</a:t>
            </a:r>
            <a:endParaRPr lang="en-US" dirty="0"/>
          </a:p>
        </p:txBody>
      </p:sp>
      <p:sp>
        <p:nvSpPr>
          <p:cNvPr id="282" name="Google Shape;282;p36"/>
          <p:cNvSpPr txBox="1">
            <a:spLocks noGrp="1"/>
          </p:cNvSpPr>
          <p:nvPr>
            <p:ph type="title" idx="2"/>
          </p:nvPr>
        </p:nvSpPr>
        <p:spPr>
          <a:xfrm>
            <a:off x="7027375" y="745825"/>
            <a:ext cx="1403400" cy="10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01</a:t>
            </a:r>
            <a:endParaRPr lang="en-US" dirty="0"/>
          </a:p>
        </p:txBody>
      </p:sp>
      <p:cxnSp>
        <p:nvCxnSpPr>
          <p:cNvPr id="283" name="Google Shape;283;p36"/>
          <p:cNvCxnSpPr/>
          <p:nvPr/>
        </p:nvCxnSpPr>
        <p:spPr>
          <a:xfrm>
            <a:off x="830675" y="3789426"/>
            <a:ext cx="4861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41"/>
          <p:cNvPicPr preferRelativeResize="0">
            <a:picLocks noGrp="1"/>
          </p:cNvPicPr>
          <p:nvPr>
            <p:ph type="pic" idx="2"/>
          </p:nvPr>
        </p:nvPicPr>
        <p:blipFill rotWithShape="1">
          <a:blip>
            <a:alphaModFix/>
          </a:blip>
          <a:srcRect t="2409" b="13663"/>
          <a:stretch/>
        </p:blipFill>
        <p:spPr>
          <a:xfrm>
            <a:off x="5196900" y="742800"/>
            <a:ext cx="2909102" cy="3657902"/>
          </a:xfrm>
          <a:prstGeom prst="rect">
            <a:avLst/>
          </a:prstGeom>
        </p:spPr>
      </p:pic>
      <p:sp>
        <p:nvSpPr>
          <p:cNvPr id="323" name="Google Shape;323;p41"/>
          <p:cNvSpPr/>
          <p:nvPr/>
        </p:nvSpPr>
        <p:spPr>
          <a:xfrm>
            <a:off x="304850" y="446533"/>
            <a:ext cx="8806310" cy="4250434"/>
          </a:xfrm>
          <a:custGeom>
            <a:avLst/>
            <a:gdLst/>
            <a:ahLst/>
            <a:cxnLst/>
            <a:rect l="l" t="t" r="r" b="b"/>
            <a:pathLst>
              <a:path w="153775" h="89596" extrusionOk="0">
                <a:moveTo>
                  <a:pt x="112114" y="15001"/>
                </a:moveTo>
                <a:cubicBezTo>
                  <a:pt x="112197" y="15001"/>
                  <a:pt x="112274" y="15003"/>
                  <a:pt x="112343" y="15008"/>
                </a:cubicBezTo>
                <a:cubicBezTo>
                  <a:pt x="118125" y="15422"/>
                  <a:pt x="124736" y="18719"/>
                  <a:pt x="127178" y="24509"/>
                </a:cubicBezTo>
                <a:cubicBezTo>
                  <a:pt x="129611" y="30309"/>
                  <a:pt x="132727" y="36893"/>
                  <a:pt x="133831" y="42693"/>
                </a:cubicBezTo>
                <a:cubicBezTo>
                  <a:pt x="134565" y="46619"/>
                  <a:pt x="132943" y="49726"/>
                  <a:pt x="132494" y="51624"/>
                </a:cubicBezTo>
                <a:cubicBezTo>
                  <a:pt x="131795" y="54533"/>
                  <a:pt x="132960" y="61005"/>
                  <a:pt x="129827" y="65527"/>
                </a:cubicBezTo>
                <a:cubicBezTo>
                  <a:pt x="126840" y="69851"/>
                  <a:pt x="120768" y="74593"/>
                  <a:pt x="114576" y="74593"/>
                </a:cubicBezTo>
                <a:cubicBezTo>
                  <a:pt x="114292" y="74593"/>
                  <a:pt x="114008" y="74583"/>
                  <a:pt x="113724" y="74563"/>
                </a:cubicBezTo>
                <a:cubicBezTo>
                  <a:pt x="107226" y="74105"/>
                  <a:pt x="99588" y="72483"/>
                  <a:pt x="94488" y="63793"/>
                </a:cubicBezTo>
                <a:cubicBezTo>
                  <a:pt x="89388" y="55094"/>
                  <a:pt x="89742" y="46990"/>
                  <a:pt x="90208" y="43046"/>
                </a:cubicBezTo>
                <a:cubicBezTo>
                  <a:pt x="90665" y="39111"/>
                  <a:pt x="92529" y="29377"/>
                  <a:pt x="97508" y="22999"/>
                </a:cubicBezTo>
                <a:cubicBezTo>
                  <a:pt x="102320" y="16856"/>
                  <a:pt x="109836" y="15001"/>
                  <a:pt x="112114" y="15001"/>
                </a:cubicBezTo>
                <a:close/>
                <a:moveTo>
                  <a:pt x="0" y="1"/>
                </a:moveTo>
                <a:lnTo>
                  <a:pt x="0" y="89596"/>
                </a:lnTo>
                <a:lnTo>
                  <a:pt x="153775" y="89596"/>
                </a:lnTo>
                <a:lnTo>
                  <a:pt x="15377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1"/>
          <p:cNvSpPr txBox="1">
            <a:spLocks noGrp="1"/>
          </p:cNvSpPr>
          <p:nvPr>
            <p:ph type="title"/>
          </p:nvPr>
        </p:nvSpPr>
        <p:spPr>
          <a:xfrm>
            <a:off x="1024800" y="1130188"/>
            <a:ext cx="3807900" cy="16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IoT Authentication: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A Critical Challenge</a:t>
            </a:r>
            <a:endParaRPr lang="en-US" dirty="0"/>
          </a:p>
        </p:txBody>
      </p:sp>
      <p:sp>
        <p:nvSpPr>
          <p:cNvPr id="325" name="Google Shape;325;p41"/>
          <p:cNvSpPr txBox="1">
            <a:spLocks noGrp="1"/>
          </p:cNvSpPr>
          <p:nvPr>
            <p:ph type="subTitle" idx="1"/>
          </p:nvPr>
        </p:nvSpPr>
        <p:spPr>
          <a:xfrm>
            <a:off x="1024800" y="2897013"/>
            <a:ext cx="38079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30B+ connected devices by 2030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Constrained nodes: battery-powered, &lt;256KB RAM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Open channel → real ID linkable to location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LAAKA uses 4× energy of our scheme per round</a:t>
            </a:r>
            <a:endParaRPr lang="en-US" dirty="0"/>
          </a:p>
        </p:txBody>
      </p:sp>
      <p:pic>
        <p:nvPicPr>
          <p:cNvPr id="326" name="Picture 325" descr="hw_tot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11480"/>
            <a:ext cx="4023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>
            <a:spLocks noGrp="1"/>
          </p:cNvSpPr>
          <p:nvPr>
            <p:ph type="title"/>
          </p:nvPr>
        </p:nvSpPr>
        <p:spPr>
          <a:xfrm>
            <a:off x="713225" y="56438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Research Gaps We Address</a:t>
            </a:r>
            <a:endParaRPr lang="en-US" dirty="0"/>
          </a:p>
        </p:txBody>
      </p:sp>
      <p:sp>
        <p:nvSpPr>
          <p:cNvPr id="379" name="Google Shape;379;p45"/>
          <p:cNvSpPr txBox="1">
            <a:spLocks noGrp="1"/>
          </p:cNvSpPr>
          <p:nvPr>
            <p:ph type="subTitle" idx="1"/>
          </p:nvPr>
        </p:nvSpPr>
        <p:spPr>
          <a:xfrm>
            <a:off x="1309200" y="1586625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Real device ID transmitted on open channel — enables location tracking &amp; linkability</a:t>
            </a:r>
            <a:endParaRPr lang="en-US" dirty="0"/>
          </a:p>
        </p:txBody>
      </p:sp>
      <p:sp>
        <p:nvSpPr>
          <p:cNvPr id="380" name="Google Shape;380;p45"/>
          <p:cNvSpPr txBox="1">
            <a:spLocks noGrp="1"/>
          </p:cNvSpPr>
          <p:nvPr>
            <p:ph type="subTitle" idx="2"/>
          </p:nvPr>
        </p:nvSpPr>
        <p:spPr>
          <a:xfrm>
            <a:off x="1309210" y="2743840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Single-state nonce: one missed update forces costly full re-enrollment</a:t>
            </a:r>
            <a:endParaRPr lang="en-US" dirty="0"/>
          </a:p>
        </p:txBody>
      </p:sp>
      <p:sp>
        <p:nvSpPr>
          <p:cNvPr id="381" name="Google Shape;381;p45"/>
          <p:cNvSpPr txBox="1">
            <a:spLocks noGrp="1"/>
          </p:cNvSpPr>
          <p:nvPr>
            <p:ph type="subTitle" idx="3"/>
          </p:nvPr>
        </p:nvSpPr>
        <p:spPr>
          <a:xfrm>
            <a:off x="1309210" y="3919373"/>
            <a:ext cx="71910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LAAKA: 0.60 J/round · Zhou: 0.33 J/round — infeasible on battery-powered IoT nodes</a:t>
            </a:r>
            <a:endParaRPr lang="en-US" dirty="0"/>
          </a:p>
        </p:txBody>
      </p:sp>
      <p:sp>
        <p:nvSpPr>
          <p:cNvPr id="382" name="Google Shape;382;p45"/>
          <p:cNvSpPr txBox="1">
            <a:spLocks noGrp="1"/>
          </p:cNvSpPr>
          <p:nvPr>
            <p:ph type="subTitle" idx="4"/>
          </p:nvPr>
        </p:nvSpPr>
        <p:spPr>
          <a:xfrm>
            <a:off x="1309195" y="1158080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Identity Exposure</a:t>
            </a:r>
            <a:endParaRPr lang="en-US" dirty="0"/>
          </a:p>
        </p:txBody>
      </p:sp>
      <p:sp>
        <p:nvSpPr>
          <p:cNvPr id="383" name="Google Shape;383;p45"/>
          <p:cNvSpPr txBox="1">
            <a:spLocks noGrp="1"/>
          </p:cNvSpPr>
          <p:nvPr>
            <p:ph type="subTitle" idx="5"/>
          </p:nvPr>
        </p:nvSpPr>
        <p:spPr>
          <a:xfrm>
            <a:off x="1309195" y="2322763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Desynchronization Vulnerability</a:t>
            </a:r>
            <a:endParaRPr lang="en-US" dirty="0"/>
          </a:p>
        </p:txBody>
      </p:sp>
      <p:sp>
        <p:nvSpPr>
          <p:cNvPr id="384" name="Google Shape;384;p45"/>
          <p:cNvSpPr txBox="1">
            <a:spLocks noGrp="1"/>
          </p:cNvSpPr>
          <p:nvPr>
            <p:ph type="subTitle" idx="6"/>
          </p:nvPr>
        </p:nvSpPr>
        <p:spPr>
          <a:xfrm>
            <a:off x="1309195" y="3487447"/>
            <a:ext cx="7060200" cy="4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/>
              <a:t>Excessive Overhead</a:t>
            </a:r>
            <a:endParaRPr lang="en-US" dirty="0"/>
          </a:p>
        </p:txBody>
      </p:sp>
      <p:sp>
        <p:nvSpPr>
          <p:cNvPr id="385" name="Google Shape;385;p45"/>
          <p:cNvSpPr/>
          <p:nvPr/>
        </p:nvSpPr>
        <p:spPr>
          <a:xfrm>
            <a:off x="774595" y="1234275"/>
            <a:ext cx="458400" cy="4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artel Sans"/>
                <a:ea typeface="Martel Sans"/>
                <a:cs typeface="Martel Sans"/>
                <a:sym typeface="Martel Sans"/>
              </a:rPr>
              <a:t>1</a:t>
            </a:r>
            <a:endParaRPr sz="2000" b="1">
              <a:solidFill>
                <a:schemeClr val="lt1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sp>
        <p:nvSpPr>
          <p:cNvPr id="386" name="Google Shape;386;p45"/>
          <p:cNvSpPr/>
          <p:nvPr/>
        </p:nvSpPr>
        <p:spPr>
          <a:xfrm>
            <a:off x="774595" y="2398975"/>
            <a:ext cx="458400" cy="4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artel Sans"/>
                <a:ea typeface="Martel Sans"/>
                <a:cs typeface="Martel Sans"/>
                <a:sym typeface="Martel Sans"/>
              </a:rPr>
              <a:t>2</a:t>
            </a:r>
            <a:endParaRPr sz="2000" b="1">
              <a:solidFill>
                <a:schemeClr val="lt1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  <p:sp>
        <p:nvSpPr>
          <p:cNvPr id="387" name="Google Shape;387;p45"/>
          <p:cNvSpPr/>
          <p:nvPr/>
        </p:nvSpPr>
        <p:spPr>
          <a:xfrm>
            <a:off x="774595" y="3563675"/>
            <a:ext cx="458400" cy="4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Martel Sans"/>
                <a:ea typeface="Martel Sans"/>
                <a:cs typeface="Martel Sans"/>
                <a:sym typeface="Martel Sans"/>
              </a:rPr>
              <a:t>3</a:t>
            </a:r>
            <a:endParaRPr sz="2000" b="1">
              <a:solidFill>
                <a:schemeClr val="lt1"/>
              </a:solidFill>
              <a:latin typeface="Martel Sans"/>
              <a:ea typeface="Martel Sans"/>
              <a:cs typeface="Martel Sans"/>
              <a:sym typeface="Marte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istentialism Thesis Defense by Slidesgo">
  <a:themeElements>
    <a:clrScheme name="Simple Light">
      <a:dk1>
        <a:srgbClr val="0C343D"/>
      </a:dk1>
      <a:lt1>
        <a:srgbClr val="EDE9E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On-screen Show (16:9)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PT Sans</vt:lpstr>
      <vt:lpstr>Arial</vt:lpstr>
      <vt:lpstr>Anaheim</vt:lpstr>
      <vt:lpstr>Bebas Neue</vt:lpstr>
      <vt:lpstr>Nunito Light</vt:lpstr>
      <vt:lpstr>Martel Sans</vt:lpstr>
      <vt:lpstr>Proxima Nova</vt:lpstr>
      <vt:lpstr>Existentialism Thesis Defense by Slidesgo</vt:lpstr>
      <vt:lpstr>Slidesgo Final Pages</vt:lpstr>
      <vt:lpstr>Lightweight, Anonymous &amp; Decoupled Authentication for Multihop IoT Networks</vt:lpstr>
      <vt:lpstr>Agenda</vt:lpstr>
      <vt:lpstr>Background &amp; Motivation</vt:lpstr>
      <vt:lpstr>IoT Authentication: A Critical Challenge</vt:lpstr>
      <vt:lpstr>Research Gaps We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ANUP MAHESH KULKARNI</cp:lastModifiedBy>
  <cp:revision>1</cp:revision>
  <dcterms:modified xsi:type="dcterms:W3CDTF">2026-06-14T21:20:32Z</dcterms:modified>
</cp:coreProperties>
</file>